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
  </p:notesMasterIdLst>
  <p:sldIdLst>
    <p:sldId id="256" r:id="rId2"/>
  </p:sldIdLst>
  <p:sldSz cx="14630400" cy="8229600"/>
  <p:notesSz cx="8229600" cy="14630400"/>
  <p:embeddedFontLst>
    <p:embeddedFont>
      <p:font typeface="Calibri" panose="020F0502020204030204" pitchFamily="34" charset="0"/>
      <p:regular r:id="rId4"/>
      <p:bold r:id="rId5"/>
      <p:italic r:id="rId6"/>
      <p:boldItalic r:id="rId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3979"/>
    <a:srgbClr val="A6B3AA"/>
    <a:srgbClr val="54780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2704" y="19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notesMaster" Target="notesMasters/notesMaster1.xml"/><Relationship Id="rId7" Type="http://schemas.openxmlformats.org/officeDocument/2006/relationships/font" Target="fonts/font4.fntdata"/><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tableStyles" Target="tableStyles.xml"/><Relationship Id="rId5" Type="http://schemas.openxmlformats.org/officeDocument/2006/relationships/font" Target="fonts/font2.fntdata"/><Relationship Id="rId10" Type="http://schemas.openxmlformats.org/officeDocument/2006/relationships/theme" Target="theme/theme1.xml"/><Relationship Id="rId4" Type="http://schemas.openxmlformats.org/officeDocument/2006/relationships/font" Target="fonts/font1.fntdata"/><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7185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F3EF1B88-2EE1-49AA-B7AB-8279D016E5C6}"/>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l="5496" t="34200" r="10374" b="7204"/>
          <a:stretch/>
        </p:blipFill>
        <p:spPr>
          <a:xfrm>
            <a:off x="0" y="-42459"/>
            <a:ext cx="14630400" cy="8308223"/>
          </a:xfrm>
          <a:prstGeom prst="rect">
            <a:avLst/>
          </a:prstGeom>
        </p:spPr>
      </p:pic>
      <p:pic>
        <p:nvPicPr>
          <p:cNvPr id="9" name="Graphic 8">
            <a:extLst>
              <a:ext uri="{FF2B5EF4-FFF2-40B4-BE49-F238E27FC236}">
                <a16:creationId xmlns:a16="http://schemas.microsoft.com/office/drawing/2014/main" id="{FDAEBD17-9E57-49C5-AC0C-59772064F6F9}"/>
              </a:ext>
            </a:extLst>
          </p:cNvPr>
          <p:cNvPicPr>
            <a:picLocks noChangeAspect="1"/>
          </p:cNvPicPr>
          <p:nvPr/>
        </p:nvPicPr>
        <p:blipFill rotWithShape="1">
          <a:blip r:embed="rId5">
            <a:extLst>
              <a:ext uri="{96DAC541-7B7A-43D3-8B79-37D633B846F1}">
                <asvg:svgBlip xmlns:asvg="http://schemas.microsoft.com/office/drawing/2016/SVG/main" r:embed="rId6"/>
              </a:ext>
            </a:extLst>
          </a:blip>
          <a:srcRect l="-10401" r="10903"/>
          <a:stretch/>
        </p:blipFill>
        <p:spPr>
          <a:xfrm>
            <a:off x="11812183" y="303212"/>
            <a:ext cx="2520950" cy="1247775"/>
          </a:xfrm>
          <a:prstGeom prst="rect">
            <a:avLst/>
          </a:prstGeom>
        </p:spPr>
      </p:pic>
      <p:pic>
        <p:nvPicPr>
          <p:cNvPr id="11" name="Graphic 10">
            <a:extLst>
              <a:ext uri="{FF2B5EF4-FFF2-40B4-BE49-F238E27FC236}">
                <a16:creationId xmlns:a16="http://schemas.microsoft.com/office/drawing/2014/main" id="{624BBD47-A270-4C7A-973C-BED3268CF687}"/>
              </a:ext>
            </a:extLst>
          </p:cNvPr>
          <p:cNvPicPr>
            <a:picLocks noChangeAspect="1"/>
          </p:cNvPicPr>
          <p:nvPr/>
        </p:nvPicPr>
        <p:blipFill rotWithShape="1">
          <a:blip r:embed="rId7">
            <a:extLst>
              <a:ext uri="{96DAC541-7B7A-43D3-8B79-37D633B846F1}">
                <asvg:svgBlip xmlns:asvg="http://schemas.microsoft.com/office/drawing/2016/SVG/main" r:embed="rId8"/>
              </a:ext>
            </a:extLst>
          </a:blip>
          <a:srcRect l="59973" t="48310" r="6233" b="20141"/>
          <a:stretch/>
        </p:blipFill>
        <p:spPr>
          <a:xfrm>
            <a:off x="-5166" y="-78622"/>
            <a:ext cx="1565330" cy="1437024"/>
          </a:xfrm>
          <a:prstGeom prst="rect">
            <a:avLst/>
          </a:prstGeom>
        </p:spPr>
      </p:pic>
      <p:pic>
        <p:nvPicPr>
          <p:cNvPr id="13" name="Graphic 12">
            <a:extLst>
              <a:ext uri="{FF2B5EF4-FFF2-40B4-BE49-F238E27FC236}">
                <a16:creationId xmlns:a16="http://schemas.microsoft.com/office/drawing/2014/main" id="{9C0D97AA-1CF4-4148-B96B-82E4CE8ACB4C}"/>
              </a:ext>
            </a:extLst>
          </p:cNvPr>
          <p:cNvPicPr>
            <a:picLocks noChangeAspect="1"/>
          </p:cNvPicPr>
          <p:nvPr/>
        </p:nvPicPr>
        <p:blipFill rotWithShape="1">
          <a:blip r:embed="rId9">
            <a:extLst>
              <a:ext uri="{96DAC541-7B7A-43D3-8B79-37D633B846F1}">
                <asvg:svgBlip xmlns:asvg="http://schemas.microsoft.com/office/drawing/2016/SVG/main" r:embed="rId10"/>
              </a:ext>
            </a:extLst>
          </a:blip>
          <a:srcRect l="36579" b="59803"/>
          <a:stretch/>
        </p:blipFill>
        <p:spPr>
          <a:xfrm flipH="1">
            <a:off x="12290963" y="6814654"/>
            <a:ext cx="2368012" cy="1451110"/>
          </a:xfrm>
          <a:prstGeom prst="rect">
            <a:avLst/>
          </a:prstGeom>
        </p:spPr>
      </p:pic>
      <p:sp>
        <p:nvSpPr>
          <p:cNvPr id="16" name="TextBox 15">
            <a:extLst>
              <a:ext uri="{FF2B5EF4-FFF2-40B4-BE49-F238E27FC236}">
                <a16:creationId xmlns:a16="http://schemas.microsoft.com/office/drawing/2014/main" id="{042ECB3F-3454-45FB-AF44-8AE102A7A3E9}"/>
              </a:ext>
            </a:extLst>
          </p:cNvPr>
          <p:cNvSpPr txBox="1"/>
          <p:nvPr/>
        </p:nvSpPr>
        <p:spPr>
          <a:xfrm>
            <a:off x="889000" y="550709"/>
            <a:ext cx="12691533" cy="7121886"/>
          </a:xfrm>
          <a:prstGeom prst="rect">
            <a:avLst/>
          </a:prstGeom>
          <a:noFill/>
        </p:spPr>
        <p:txBody>
          <a:bodyPr wrap="square" rtlCol="0">
            <a:spAutoFit/>
          </a:bodyPr>
          <a:lstStyle/>
          <a:p>
            <a:pPr algn="ctr">
              <a:lnSpc>
                <a:spcPct val="150000"/>
              </a:lnSpc>
            </a:pPr>
            <a:r>
              <a:rPr lang="ar-EG" sz="2000" b="1" dirty="0">
                <a:solidFill>
                  <a:srgbClr val="253979"/>
                </a:solidFill>
                <a:latin typeface="Arial" panose="020B0604020202020204" pitchFamily="34" charset="0"/>
                <a:cs typeface="Arial" panose="020B0604020202020204" pitchFamily="34" charset="0"/>
              </a:rPr>
              <a:t>الزملاء الأعزاء بأسرة شركة مهارة المحترمين،،</a:t>
            </a:r>
            <a:endParaRPr lang="ar-EG" sz="2000" dirty="0">
              <a:solidFill>
                <a:srgbClr val="253979"/>
              </a:solidFill>
              <a:latin typeface="Arial" panose="020B0604020202020204" pitchFamily="34" charset="0"/>
              <a:cs typeface="Arial" panose="020B0604020202020204" pitchFamily="34" charset="0"/>
            </a:endParaRPr>
          </a:p>
          <a:p>
            <a:pPr algn="ctr">
              <a:lnSpc>
                <a:spcPct val="150000"/>
              </a:lnSpc>
            </a:pPr>
            <a:r>
              <a:rPr lang="ar-EG" sz="2000" b="1" dirty="0">
                <a:solidFill>
                  <a:srgbClr val="253979"/>
                </a:solidFill>
                <a:latin typeface="Arial" panose="020B0604020202020204" pitchFamily="34" charset="0"/>
                <a:cs typeface="Arial" panose="020B0604020202020204" pitchFamily="34" charset="0"/>
              </a:rPr>
              <a:t>تحية طيبة وبعد،،</a:t>
            </a:r>
            <a:endParaRPr lang="ar-EG" sz="2000" dirty="0">
              <a:solidFill>
                <a:srgbClr val="253979"/>
              </a:solidFill>
              <a:latin typeface="Arial" panose="020B0604020202020204" pitchFamily="34" charset="0"/>
              <a:cs typeface="Arial" panose="020B0604020202020204" pitchFamily="34" charset="0"/>
            </a:endParaRPr>
          </a:p>
          <a:p>
            <a:pPr algn="ctr">
              <a:lnSpc>
                <a:spcPct val="150000"/>
              </a:lnSpc>
            </a:pPr>
            <a:r>
              <a:rPr lang="ar-EG" sz="2000" dirty="0">
                <a:solidFill>
                  <a:srgbClr val="253979"/>
                </a:solidFill>
                <a:latin typeface="Arial" panose="020B0604020202020204" pitchFamily="34" charset="0"/>
                <a:cs typeface="Arial" panose="020B0604020202020204" pitchFamily="34" charset="0"/>
              </a:rPr>
              <a:t>بالإشارة إلى التعميم السابق بخصوص ضوابط الحضور والانصراف وقواعد الغياب، نود أن نتوجه ببالغ الشكر والتقدير لغالبية الزملاء الذين أثبتوا بمدى انضباطهم أنهم الركيزة الأساسية لهذا الكيان، فالتزامكم هو المحرك الحقيقي لنجاحنا.</a:t>
            </a:r>
          </a:p>
          <a:p>
            <a:pPr algn="ctr">
              <a:lnSpc>
                <a:spcPct val="150000"/>
              </a:lnSpc>
            </a:pPr>
            <a:r>
              <a:rPr lang="ar-EG" sz="2000" dirty="0">
                <a:solidFill>
                  <a:srgbClr val="253979"/>
                </a:solidFill>
                <a:latin typeface="Arial" panose="020B0604020202020204" pitchFamily="34" charset="0"/>
                <a:cs typeface="Arial" panose="020B0604020202020204" pitchFamily="34" charset="0"/>
              </a:rPr>
              <a:t>وفي المقابل، نود التأكيد على أنه قد تم البدء فعلياً في اتخاذ كافة الإجراءات الإدارية والمالية المذكورة أعلاه تجاه الفئة القليلة التي لم تلتزم بالتعليمات. إن خذلان البعض في تحمل المسؤولية كان سبباً مباشراً في تراجع مؤشرات الأداء التي لا نقبل بغير القمة فيها، وهو أمر لن نسمح بتكراره تحت أي ظرف.</a:t>
            </a:r>
          </a:p>
          <a:p>
            <a:pPr algn="ctr">
              <a:lnSpc>
                <a:spcPct val="150000"/>
              </a:lnSpc>
            </a:pPr>
            <a:r>
              <a:rPr lang="ar-EG" sz="3200" b="1" dirty="0">
                <a:solidFill>
                  <a:srgbClr val="FF0000"/>
                </a:solidFill>
                <a:latin typeface="Arial" panose="020B0604020202020204" pitchFamily="34" charset="0"/>
                <a:cs typeface="Arial" panose="020B0604020202020204" pitchFamily="34" charset="0"/>
              </a:rPr>
              <a:t>بناءً عليه، يرجى العلم بالآتي والالتزام التام به:</a:t>
            </a:r>
            <a:endParaRPr lang="ar-EG" sz="3200" dirty="0">
              <a:solidFill>
                <a:srgbClr val="FF0000"/>
              </a:solidFill>
              <a:latin typeface="Arial" panose="020B0604020202020204" pitchFamily="34" charset="0"/>
              <a:cs typeface="Arial" panose="020B0604020202020204" pitchFamily="34" charset="0"/>
            </a:endParaRPr>
          </a:p>
          <a:p>
            <a:pPr algn="ctr" rtl="1">
              <a:lnSpc>
                <a:spcPct val="150000"/>
              </a:lnSpc>
              <a:buFont typeface="+mj-lt"/>
              <a:buAutoNum type="arabicPeriod"/>
            </a:pPr>
            <a:r>
              <a:rPr lang="ar-EG" sz="2000" b="1" dirty="0">
                <a:solidFill>
                  <a:srgbClr val="002060"/>
                </a:solidFill>
                <a:latin typeface="Arial" panose="020B0604020202020204" pitchFamily="34" charset="0"/>
                <a:cs typeface="Arial" panose="020B0604020202020204" pitchFamily="34" charset="0"/>
              </a:rPr>
              <a:t>تطبيق القرارات دون استثناء:</a:t>
            </a:r>
            <a:r>
              <a:rPr lang="ar-EG" sz="2000" dirty="0">
                <a:solidFill>
                  <a:srgbClr val="002060"/>
                </a:solidFill>
                <a:latin typeface="Arial" panose="020B0604020202020204" pitchFamily="34" charset="0"/>
                <a:cs typeface="Arial" panose="020B0604020202020204" pitchFamily="34" charset="0"/>
              </a:rPr>
              <a:t> نؤكد أن تطبيق الإجراءات السابقة سيستمر بكل حزم ودون أي تهاون مع أي مقصر.</a:t>
            </a:r>
          </a:p>
          <a:p>
            <a:pPr algn="ctr" rtl="1">
              <a:lnSpc>
                <a:spcPct val="150000"/>
              </a:lnSpc>
              <a:buFont typeface="+mj-lt"/>
              <a:buAutoNum type="arabicPeriod"/>
            </a:pPr>
            <a:r>
              <a:rPr lang="ar-EG" sz="2000" b="1" dirty="0">
                <a:solidFill>
                  <a:srgbClr val="002060"/>
                </a:solidFill>
                <a:latin typeface="Arial" panose="020B0604020202020204" pitchFamily="34" charset="0"/>
                <a:cs typeface="Arial" panose="020B0604020202020204" pitchFamily="34" charset="0"/>
              </a:rPr>
              <a:t>سياسة الأعذار والأذونات:</a:t>
            </a:r>
            <a:r>
              <a:rPr lang="ar-EG" sz="2000" dirty="0">
                <a:solidFill>
                  <a:srgbClr val="002060"/>
                </a:solidFill>
                <a:latin typeface="Arial" panose="020B0604020202020204" pitchFamily="34" charset="0"/>
                <a:cs typeface="Arial" panose="020B0604020202020204" pitchFamily="34" charset="0"/>
              </a:rPr>
              <a:t> لن يتم قبول أي عذر أو إذن "شفهي" أو "متأخر". أي إذن غياب أو تأخير يجب أن يكون بموافقة مسبقة وموثقة من المدير المباشر،ومرسل إلى إدارة الموارد البشرية (</a:t>
            </a:r>
            <a:r>
              <a:rPr lang="en-US" sz="2000" dirty="0">
                <a:solidFill>
                  <a:srgbClr val="002060"/>
                </a:solidFill>
                <a:latin typeface="Arial" panose="020B0604020202020204" pitchFamily="34" charset="0"/>
                <a:cs typeface="Arial" panose="020B0604020202020204" pitchFamily="34" charset="0"/>
              </a:rPr>
              <a:t>HR) </a:t>
            </a:r>
            <a:r>
              <a:rPr lang="ar-EG" sz="2000" dirty="0">
                <a:solidFill>
                  <a:srgbClr val="002060"/>
                </a:solidFill>
                <a:latin typeface="Arial" panose="020B0604020202020204" pitchFamily="34" charset="0"/>
                <a:cs typeface="Arial" panose="020B0604020202020204" pitchFamily="34" charset="0"/>
              </a:rPr>
              <a:t>قبل موعد الإذن بـ 24 ساعة على الأقل.</a:t>
            </a:r>
          </a:p>
          <a:p>
            <a:pPr algn="ctr" rtl="1">
              <a:lnSpc>
                <a:spcPct val="150000"/>
              </a:lnSpc>
              <a:buFont typeface="+mj-lt"/>
              <a:buAutoNum type="arabicPeriod"/>
            </a:pPr>
            <a:r>
              <a:rPr lang="ar-EG" sz="2000" b="1" dirty="0">
                <a:solidFill>
                  <a:srgbClr val="002060"/>
                </a:solidFill>
                <a:latin typeface="Arial" panose="020B0604020202020204" pitchFamily="34" charset="0"/>
                <a:cs typeface="Arial" panose="020B0604020202020204" pitchFamily="34" charset="0"/>
              </a:rPr>
              <a:t>المسؤولية الجماعية:</a:t>
            </a:r>
            <a:r>
              <a:rPr lang="ar-EG" sz="2000" dirty="0">
                <a:solidFill>
                  <a:srgbClr val="002060"/>
                </a:solidFill>
                <a:latin typeface="Arial" panose="020B0604020202020204" pitchFamily="34" charset="0"/>
                <a:cs typeface="Arial" panose="020B0604020202020204" pitchFamily="34" charset="0"/>
              </a:rPr>
              <a:t> إن نجاح هذا الصرح يعتمد على التزام كل فرد فيه، ولن نتهاون مع أي تقصير يعيق مسيرة زملائه الملتزمين أو يؤثر على أهداف الشركة.</a:t>
            </a:r>
          </a:p>
          <a:p>
            <a:pPr algn="ctr">
              <a:lnSpc>
                <a:spcPct val="150000"/>
              </a:lnSpc>
            </a:pPr>
            <a:r>
              <a:rPr lang="ar-EG" sz="2000" b="1" dirty="0">
                <a:solidFill>
                  <a:srgbClr val="002060"/>
                </a:solidFill>
                <a:latin typeface="Arial" panose="020B0604020202020204" pitchFamily="34" charset="0"/>
                <a:cs typeface="Arial" panose="020B0604020202020204" pitchFamily="34" charset="0"/>
              </a:rPr>
              <a:t>نحن نؤمن بأن بيئة العمل العادلة هي التي تُقدر المجتهد وتحاسب المقصر، وثقتنا كبيرة في أن الجميع سيكون على قدر المسؤولية ابتداءً من هذه اللحظة.</a:t>
            </a:r>
          </a:p>
          <a:p>
            <a:pPr algn="ctr">
              <a:lnSpc>
                <a:spcPct val="300000"/>
              </a:lnSpc>
            </a:pPr>
            <a:r>
              <a:rPr lang="ar-EG" sz="2000" b="1" dirty="0">
                <a:solidFill>
                  <a:srgbClr val="002060"/>
                </a:solidFill>
                <a:latin typeface="Arial" panose="020B0604020202020204" pitchFamily="34" charset="0"/>
                <a:cs typeface="Arial" panose="020B0604020202020204" pitchFamily="34" charset="0"/>
              </a:rPr>
              <a:t>وتفضلوا بقبول فائق الاحترام والتقدير،،</a:t>
            </a:r>
            <a:endParaRPr lang="ar-EG" sz="2000" dirty="0">
              <a:solidFill>
                <a:srgbClr val="002060"/>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75407509-061E-439D-B1C0-3DA4CA91BE7C}"/>
              </a:ext>
            </a:extLst>
          </p:cNvPr>
          <p:cNvSpPr txBox="1"/>
          <p:nvPr/>
        </p:nvSpPr>
        <p:spPr>
          <a:xfrm>
            <a:off x="311150" y="7672595"/>
            <a:ext cx="2661306" cy="369332"/>
          </a:xfrm>
          <a:prstGeom prst="rect">
            <a:avLst/>
          </a:prstGeom>
          <a:noFill/>
        </p:spPr>
        <p:txBody>
          <a:bodyPr wrap="none" rtlCol="0">
            <a:spAutoFit/>
          </a:bodyPr>
          <a:lstStyle/>
          <a:p>
            <a:r>
              <a:rPr lang="ar-EG" b="1" dirty="0">
                <a:solidFill>
                  <a:srgbClr val="002060"/>
                </a:solidFill>
                <a:latin typeface="Arial" panose="020B0604020202020204" pitchFamily="34" charset="0"/>
                <a:cs typeface="Arial" panose="020B0604020202020204" pitchFamily="34" charset="0"/>
              </a:rPr>
              <a:t>إدارة فرع مهارة الدولية للتحصيل</a:t>
            </a:r>
            <a:endParaRPr lang="en-US" b="1" dirty="0">
              <a:solidFill>
                <a:srgbClr val="002060"/>
              </a:solidFill>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TotalTime>
  <Words>250</Words>
  <Application>Microsoft Office PowerPoint</Application>
  <PresentationFormat>Custom</PresentationFormat>
  <Paragraphs>12</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Youssef Saleh</dc:creator>
  <cp:lastModifiedBy>Youssef Saleh</cp:lastModifiedBy>
  <cp:revision>10</cp:revision>
  <dcterms:created xsi:type="dcterms:W3CDTF">2026-04-19T09:30:19Z</dcterms:created>
  <dcterms:modified xsi:type="dcterms:W3CDTF">2026-04-22T11:23:46Z</dcterms:modified>
</cp:coreProperties>
</file>