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73" r:id="rId3"/>
    <p:sldId id="267" r:id="rId4"/>
    <p:sldId id="274" r:id="rId5"/>
    <p:sldId id="266" r:id="rId6"/>
    <p:sldId id="265" r:id="rId7"/>
    <p:sldId id="264" r:id="rId8"/>
    <p:sldId id="263" r:id="rId9"/>
    <p:sldId id="276" r:id="rId10"/>
    <p:sldId id="277" r:id="rId11"/>
    <p:sldId id="278" r:id="rId12"/>
    <p:sldId id="279" r:id="rId1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534B89E-292D-4CD6-A8F4-4F976527430B}">
          <p14:sldIdLst>
            <p14:sldId id="256"/>
            <p14:sldId id="273"/>
          </p14:sldIdLst>
        </p14:section>
        <p14:section name="Untitled Section" id="{29E80BA8-7252-44D2-8B12-D4E8FCBA019A}">
          <p14:sldIdLst>
            <p14:sldId id="267"/>
            <p14:sldId id="274"/>
            <p14:sldId id="266"/>
            <p14:sldId id="265"/>
            <p14:sldId id="264"/>
            <p14:sldId id="263"/>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0088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89" autoAdjust="0"/>
    <p:restoredTop sz="94660"/>
  </p:normalViewPr>
  <p:slideViewPr>
    <p:cSldViewPr snapToGrid="0">
      <p:cViewPr>
        <p:scale>
          <a:sx n="125" d="100"/>
          <a:sy n="125" d="100"/>
        </p:scale>
        <p:origin x="1636" y="9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E24FA808-0402-4D25-8375-8C1BB84129D6}" type="datetimeFigureOut">
              <a:rPr lang="en-US" smtClean="0"/>
              <a:t>3/11/2026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0F7F20C3-1F72-4C81-8190-EDA87F20154E}" type="slidenum">
              <a:rPr lang="en-US" smtClean="0"/>
              <a:t>‹#›</a:t>
            </a:fld>
            <a:endParaRPr lang="en-US"/>
          </a:p>
        </p:txBody>
      </p:sp>
    </p:spTree>
    <p:extLst>
      <p:ext uri="{BB962C8B-B14F-4D97-AF65-F5344CB8AC3E}">
        <p14:creationId xmlns:p14="http://schemas.microsoft.com/office/powerpoint/2010/main" val="917309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7F20C3-1F72-4C81-8190-EDA87F20154E}" type="slidenum">
              <a:rPr lang="en-US" smtClean="0"/>
              <a:t>7</a:t>
            </a:fld>
            <a:endParaRPr lang="en-US"/>
          </a:p>
        </p:txBody>
      </p:sp>
    </p:spTree>
    <p:extLst>
      <p:ext uri="{BB962C8B-B14F-4D97-AF65-F5344CB8AC3E}">
        <p14:creationId xmlns:p14="http://schemas.microsoft.com/office/powerpoint/2010/main" val="913502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7F20C3-1F72-4C81-8190-EDA87F20154E}" type="slidenum">
              <a:rPr lang="en-US" smtClean="0"/>
              <a:t>8</a:t>
            </a:fld>
            <a:endParaRPr lang="en-US"/>
          </a:p>
        </p:txBody>
      </p:sp>
    </p:spTree>
    <p:extLst>
      <p:ext uri="{BB962C8B-B14F-4D97-AF65-F5344CB8AC3E}">
        <p14:creationId xmlns:p14="http://schemas.microsoft.com/office/powerpoint/2010/main" val="2976875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177B4FB-555C-46AA-AE8A-AC17BAC56B6F}"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FFD910-59A1-4239-A469-C130D70C2502}" type="slidenum">
              <a:rPr lang="en-US" smtClean="0"/>
              <a:t>‹#›</a:t>
            </a:fld>
            <a:endParaRPr lang="en-US"/>
          </a:p>
        </p:txBody>
      </p:sp>
      <p:sp>
        <p:nvSpPr>
          <p:cNvPr id="7" name="Rectangle 6">
            <a:extLst>
              <a:ext uri="{FF2B5EF4-FFF2-40B4-BE49-F238E27FC236}">
                <a16:creationId xmlns:a16="http://schemas.microsoft.com/office/drawing/2014/main" id="{B5FFC421-91E4-4A07-ABF3-1C6B11D4D404}"/>
              </a:ext>
            </a:extLst>
          </p:cNvPr>
          <p:cNvSpPr/>
          <p:nvPr userDrawn="1"/>
        </p:nvSpPr>
        <p:spPr>
          <a:xfrm>
            <a:off x="7757160" y="238760"/>
            <a:ext cx="4318000" cy="11887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2298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77B4FB-555C-46AA-AE8A-AC17BAC56B6F}"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FFD910-59A1-4239-A469-C130D70C2502}" type="slidenum">
              <a:rPr lang="en-US" smtClean="0"/>
              <a:t>‹#›</a:t>
            </a:fld>
            <a:endParaRPr lang="en-US"/>
          </a:p>
        </p:txBody>
      </p:sp>
    </p:spTree>
    <p:extLst>
      <p:ext uri="{BB962C8B-B14F-4D97-AF65-F5344CB8AC3E}">
        <p14:creationId xmlns:p14="http://schemas.microsoft.com/office/powerpoint/2010/main" val="1204137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177B4FB-555C-46AA-AE8A-AC17BAC56B6F}"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FFD910-59A1-4239-A469-C130D70C2502}" type="slidenum">
              <a:rPr lang="en-US" smtClean="0"/>
              <a:t>‹#›</a:t>
            </a:fld>
            <a:endParaRPr lang="en-US"/>
          </a:p>
        </p:txBody>
      </p:sp>
    </p:spTree>
    <p:extLst>
      <p:ext uri="{BB962C8B-B14F-4D97-AF65-F5344CB8AC3E}">
        <p14:creationId xmlns:p14="http://schemas.microsoft.com/office/powerpoint/2010/main" val="3296239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77B4FB-555C-46AA-AE8A-AC17BAC56B6F}"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FFD910-59A1-4239-A469-C130D70C2502}" type="slidenum">
              <a:rPr lang="en-US" smtClean="0"/>
              <a:t>‹#›</a:t>
            </a:fld>
            <a:endParaRPr lang="en-US"/>
          </a:p>
        </p:txBody>
      </p:sp>
    </p:spTree>
    <p:extLst>
      <p:ext uri="{BB962C8B-B14F-4D97-AF65-F5344CB8AC3E}">
        <p14:creationId xmlns:p14="http://schemas.microsoft.com/office/powerpoint/2010/main" val="2629266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177B4FB-555C-46AA-AE8A-AC17BAC56B6F}"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FFD910-59A1-4239-A469-C130D70C2502}" type="slidenum">
              <a:rPr lang="en-US" smtClean="0"/>
              <a:t>‹#›</a:t>
            </a:fld>
            <a:endParaRPr lang="en-US"/>
          </a:p>
        </p:txBody>
      </p:sp>
    </p:spTree>
    <p:extLst>
      <p:ext uri="{BB962C8B-B14F-4D97-AF65-F5344CB8AC3E}">
        <p14:creationId xmlns:p14="http://schemas.microsoft.com/office/powerpoint/2010/main" val="2241649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77B4FB-555C-46AA-AE8A-AC17BAC56B6F}"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5FFD910-59A1-4239-A469-C130D70C2502}" type="slidenum">
              <a:rPr lang="en-US" smtClean="0"/>
              <a:t>‹#›</a:t>
            </a:fld>
            <a:endParaRPr lang="en-US"/>
          </a:p>
        </p:txBody>
      </p:sp>
    </p:spTree>
    <p:extLst>
      <p:ext uri="{BB962C8B-B14F-4D97-AF65-F5344CB8AC3E}">
        <p14:creationId xmlns:p14="http://schemas.microsoft.com/office/powerpoint/2010/main" val="666311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77B4FB-555C-46AA-AE8A-AC17BAC56B6F}"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5FFD910-59A1-4239-A469-C130D70C2502}" type="slidenum">
              <a:rPr lang="en-US" smtClean="0"/>
              <a:t>‹#›</a:t>
            </a:fld>
            <a:endParaRPr lang="en-US"/>
          </a:p>
        </p:txBody>
      </p:sp>
    </p:spTree>
    <p:extLst>
      <p:ext uri="{BB962C8B-B14F-4D97-AF65-F5344CB8AC3E}">
        <p14:creationId xmlns:p14="http://schemas.microsoft.com/office/powerpoint/2010/main" val="3039523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177B4FB-555C-46AA-AE8A-AC17BAC56B6F}"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FFD910-59A1-4239-A469-C130D70C2502}" type="slidenum">
              <a:rPr lang="en-US" smtClean="0"/>
              <a:t>‹#›</a:t>
            </a:fld>
            <a:endParaRPr lang="en-US"/>
          </a:p>
        </p:txBody>
      </p:sp>
    </p:spTree>
    <p:extLst>
      <p:ext uri="{BB962C8B-B14F-4D97-AF65-F5344CB8AC3E}">
        <p14:creationId xmlns:p14="http://schemas.microsoft.com/office/powerpoint/2010/main" val="3862643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177B4FB-555C-46AA-AE8A-AC17BAC56B6F}"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FFD910-59A1-4239-A469-C130D70C2502}" type="slidenum">
              <a:rPr lang="en-US" smtClean="0"/>
              <a:t>‹#›</a:t>
            </a:fld>
            <a:endParaRPr lang="en-US"/>
          </a:p>
        </p:txBody>
      </p:sp>
    </p:spTree>
    <p:extLst>
      <p:ext uri="{BB962C8B-B14F-4D97-AF65-F5344CB8AC3E}">
        <p14:creationId xmlns:p14="http://schemas.microsoft.com/office/powerpoint/2010/main" val="2034966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77B4FB-555C-46AA-AE8A-AC17BAC56B6F}"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FFD910-59A1-4239-A469-C130D70C2502}" type="slidenum">
              <a:rPr lang="en-US" smtClean="0"/>
              <a:t>‹#›</a:t>
            </a:fld>
            <a:endParaRPr lang="en-US"/>
          </a:p>
        </p:txBody>
      </p:sp>
    </p:spTree>
    <p:extLst>
      <p:ext uri="{BB962C8B-B14F-4D97-AF65-F5344CB8AC3E}">
        <p14:creationId xmlns:p14="http://schemas.microsoft.com/office/powerpoint/2010/main" val="2834792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77B4FB-555C-46AA-AE8A-AC17BAC56B6F}"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FFD910-59A1-4239-A469-C130D70C2502}" type="slidenum">
              <a:rPr lang="en-US" smtClean="0"/>
              <a:t>‹#›</a:t>
            </a:fld>
            <a:endParaRPr lang="en-US"/>
          </a:p>
        </p:txBody>
      </p:sp>
    </p:spTree>
    <p:extLst>
      <p:ext uri="{BB962C8B-B14F-4D97-AF65-F5344CB8AC3E}">
        <p14:creationId xmlns:p14="http://schemas.microsoft.com/office/powerpoint/2010/main" val="3689840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064593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2176445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3758990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783129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77B4FB-555C-46AA-AE8A-AC17BAC56B6F}" type="datetimeFigureOut">
              <a:rPr lang="en-US" smtClean="0"/>
              <a:t>3/11/2026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FFD910-59A1-4239-A469-C130D70C2502}" type="slidenum">
              <a:rPr lang="en-US" smtClean="0"/>
              <a:t>‹#›</a:t>
            </a:fld>
            <a:endParaRPr lang="en-US"/>
          </a:p>
        </p:txBody>
      </p:sp>
    </p:spTree>
    <p:extLst>
      <p:ext uri="{BB962C8B-B14F-4D97-AF65-F5344CB8AC3E}">
        <p14:creationId xmlns:p14="http://schemas.microsoft.com/office/powerpoint/2010/main" val="3241099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5335" cy="6856126"/>
          </a:xfrm>
          <a:prstGeom prst="rect">
            <a:avLst/>
          </a:prstGeom>
        </p:spPr>
      </p:pic>
      <p:sp>
        <p:nvSpPr>
          <p:cNvPr id="5" name="Rectangle 4"/>
          <p:cNvSpPr/>
          <p:nvPr/>
        </p:nvSpPr>
        <p:spPr>
          <a:xfrm>
            <a:off x="6929472" y="2203748"/>
            <a:ext cx="5075138" cy="1938992"/>
          </a:xfrm>
          <a:prstGeom prst="rect">
            <a:avLst/>
          </a:prstGeom>
        </p:spPr>
        <p:txBody>
          <a:bodyPr wrap="square">
            <a:spAutoFit/>
          </a:bodyPr>
          <a:lstStyle/>
          <a:p>
            <a:pPr algn="ctr"/>
            <a:r>
              <a:rPr lang="ar-EG" sz="6000" b="1" dirty="0">
                <a:solidFill>
                  <a:srgbClr val="002060"/>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اسكربت شــــــــــــــركة</a:t>
            </a:r>
          </a:p>
          <a:p>
            <a:pPr algn="ctr"/>
            <a:r>
              <a:rPr lang="ar-EG" sz="6000" b="1" dirty="0">
                <a:solidFill>
                  <a:srgbClr val="002060"/>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السعودية للطاقة</a:t>
            </a:r>
            <a:endParaRPr lang="en-US" sz="6000" b="1" dirty="0">
              <a:solidFill>
                <a:srgbClr val="002060"/>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p:txBody>
      </p:sp>
      <p:sp>
        <p:nvSpPr>
          <p:cNvPr id="6" name="Rectangle 5">
            <a:extLst>
              <a:ext uri="{FF2B5EF4-FFF2-40B4-BE49-F238E27FC236}">
                <a16:creationId xmlns:a16="http://schemas.microsoft.com/office/drawing/2014/main" id="{C2BAA1D0-15FD-4B4A-B2A3-E543AC883765}"/>
              </a:ext>
            </a:extLst>
          </p:cNvPr>
          <p:cNvSpPr/>
          <p:nvPr/>
        </p:nvSpPr>
        <p:spPr>
          <a:xfrm>
            <a:off x="7757160" y="238760"/>
            <a:ext cx="4318000" cy="11887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BF6A0C5-31A9-4D67-8636-6DE0CACC19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26568" y="234332"/>
            <a:ext cx="2248592" cy="721350"/>
          </a:xfrm>
          <a:prstGeom prst="rect">
            <a:avLst/>
          </a:prstGeom>
        </p:spPr>
      </p:pic>
      <p:pic>
        <p:nvPicPr>
          <p:cNvPr id="3" name="Graphic 2">
            <a:extLst>
              <a:ext uri="{FF2B5EF4-FFF2-40B4-BE49-F238E27FC236}">
                <a16:creationId xmlns:a16="http://schemas.microsoft.com/office/drawing/2014/main" id="{C9E8F300-56B8-46BE-91E6-B23E3A84808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98986" y="130295"/>
            <a:ext cx="1187232" cy="1026251"/>
          </a:xfrm>
          <a:prstGeom prst="rect">
            <a:avLst/>
          </a:prstGeom>
        </p:spPr>
      </p:pic>
      <p:sp>
        <p:nvSpPr>
          <p:cNvPr id="10" name="Rectangle 9">
            <a:extLst>
              <a:ext uri="{FF2B5EF4-FFF2-40B4-BE49-F238E27FC236}">
                <a16:creationId xmlns:a16="http://schemas.microsoft.com/office/drawing/2014/main" id="{D0BEC200-0E17-4896-AEFF-D4E3358A3EBF}"/>
              </a:ext>
            </a:extLst>
          </p:cNvPr>
          <p:cNvSpPr/>
          <p:nvPr/>
        </p:nvSpPr>
        <p:spPr>
          <a:xfrm>
            <a:off x="9689666" y="242020"/>
            <a:ext cx="45719" cy="777909"/>
          </a:xfrm>
          <a:prstGeom prst="rect">
            <a:avLst/>
          </a:prstGeom>
          <a:gradFill flip="none" rotWithShape="1">
            <a:gsLst>
              <a:gs pos="0">
                <a:srgbClr val="0088EE">
                  <a:shade val="30000"/>
                  <a:satMod val="115000"/>
                </a:srgbClr>
              </a:gs>
              <a:gs pos="50000">
                <a:srgbClr val="0088EE">
                  <a:shade val="67500"/>
                  <a:satMod val="115000"/>
                </a:srgbClr>
              </a:gs>
              <a:gs pos="100000">
                <a:srgbClr val="0088EE">
                  <a:shade val="100000"/>
                  <a:satMod val="115000"/>
                </a:srgb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8813698A-7B2F-406B-8B1C-386CB6B4A2D0}"/>
              </a:ext>
            </a:extLst>
          </p:cNvPr>
          <p:cNvSpPr/>
          <p:nvPr/>
        </p:nvSpPr>
        <p:spPr>
          <a:xfrm rot="5400000" flipH="1">
            <a:off x="9490844" y="2178529"/>
            <a:ext cx="45719" cy="383698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756866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4124AFE-3DCF-4563-AC84-35675389DAD6}"/>
              </a:ext>
            </a:extLst>
          </p:cNvPr>
          <p:cNvGraphicFramePr>
            <a:graphicFrameLocks noGrp="1"/>
          </p:cNvGraphicFramePr>
          <p:nvPr>
            <p:extLst>
              <p:ext uri="{D42A27DB-BD31-4B8C-83A1-F6EECF244321}">
                <p14:modId xmlns:p14="http://schemas.microsoft.com/office/powerpoint/2010/main" val="2610084040"/>
              </p:ext>
            </p:extLst>
          </p:nvPr>
        </p:nvGraphicFramePr>
        <p:xfrm>
          <a:off x="387409" y="1657884"/>
          <a:ext cx="11417181" cy="4864442"/>
        </p:xfrm>
        <a:graphic>
          <a:graphicData uri="http://schemas.openxmlformats.org/drawingml/2006/table">
            <a:tbl>
              <a:tblPr bandRow="1">
                <a:tableStyleId>{1FECB4D8-DB02-4DC6-A0A2-4F2EBAE1DC90}</a:tableStyleId>
              </a:tblPr>
              <a:tblGrid>
                <a:gridCol w="9705038">
                  <a:extLst>
                    <a:ext uri="{9D8B030D-6E8A-4147-A177-3AD203B41FA5}">
                      <a16:colId xmlns:a16="http://schemas.microsoft.com/office/drawing/2014/main" val="1000912752"/>
                    </a:ext>
                  </a:extLst>
                </a:gridCol>
                <a:gridCol w="1712143">
                  <a:extLst>
                    <a:ext uri="{9D8B030D-6E8A-4147-A177-3AD203B41FA5}">
                      <a16:colId xmlns:a16="http://schemas.microsoft.com/office/drawing/2014/main" val="204104726"/>
                    </a:ext>
                  </a:extLst>
                </a:gridCol>
              </a:tblGrid>
              <a:tr h="504202">
                <a:tc>
                  <a:txBody>
                    <a:bodyPr/>
                    <a:lstStyle/>
                    <a:p>
                      <a:pPr marL="0" marR="0" algn="r" defTabSz="914400" rtl="1"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السلام عليكم</a:t>
                      </a:r>
                      <a:r>
                        <a:rPr lang="ar-EG" sz="2000" b="1" kern="1200" baseline="0" dirty="0">
                          <a:solidFill>
                            <a:schemeClr val="tx1"/>
                          </a:solidFill>
                          <a:effectLst>
                            <a:outerShdw blurRad="38100" dist="38100" dir="2700000" algn="tl">
                              <a:srgbClr val="000000">
                                <a:alpha val="43137"/>
                              </a:srgbClr>
                            </a:outerShdw>
                          </a:effectLst>
                        </a:rPr>
                        <a:t> </a:t>
                      </a:r>
                      <a:r>
                        <a:rPr lang="ar-SA" sz="2000" b="1" kern="1200" dirty="0">
                          <a:solidFill>
                            <a:schemeClr val="tx1"/>
                          </a:solidFill>
                          <a:effectLst>
                            <a:outerShdw blurRad="38100" dist="38100" dir="2700000" algn="tl">
                              <a:srgbClr val="000000">
                                <a:alpha val="43137"/>
                              </a:srgbClr>
                            </a:outerShdw>
                          </a:effectLst>
                        </a:rPr>
                        <a:t>،  </a:t>
                      </a:r>
                      <a:r>
                        <a:rPr lang="ar-EG" sz="2000" b="1" kern="1200" dirty="0">
                          <a:solidFill>
                            <a:schemeClr val="tx1"/>
                          </a:solidFill>
                          <a:effectLst>
                            <a:outerShdw blurRad="38100" dist="38100" dir="2700000" algn="tl">
                              <a:srgbClr val="000000">
                                <a:alpha val="43137"/>
                              </a:srgbClr>
                            </a:outerShdw>
                          </a:effectLst>
                        </a:rPr>
                        <a:t>معى </a:t>
                      </a:r>
                      <a:r>
                        <a:rPr lang="ar-SA" sz="2000" b="1" kern="1200" dirty="0">
                          <a:solidFill>
                            <a:schemeClr val="tx1"/>
                          </a:solidFill>
                          <a:effectLst>
                            <a:outerShdw blurRad="38100" dist="38100" dir="2700000" algn="tl">
                              <a:srgbClr val="000000">
                                <a:alpha val="43137"/>
                              </a:srgbClr>
                            </a:outerShdw>
                          </a:effectLst>
                        </a:rPr>
                        <a:t>الأستاذ ( يتم ذكر </a:t>
                      </a:r>
                      <a:r>
                        <a:rPr lang="ar-EG" sz="2000" b="1" kern="1200" dirty="0">
                          <a:solidFill>
                            <a:schemeClr val="tx1"/>
                          </a:solidFill>
                          <a:effectLst>
                            <a:outerShdw blurRad="38100" dist="38100" dir="2700000" algn="tl">
                              <a:srgbClr val="000000">
                                <a:alpha val="43137"/>
                              </a:srgbClr>
                            </a:outerShdw>
                          </a:effectLst>
                        </a:rPr>
                        <a:t>اسم العميل كامل</a:t>
                      </a:r>
                      <a:r>
                        <a:rPr lang="ar-SA" sz="2000" b="1" kern="1200" dirty="0">
                          <a:solidFill>
                            <a:schemeClr val="tx1"/>
                          </a:solidFill>
                          <a:effectLst>
                            <a:outerShdw blurRad="38100" dist="38100" dir="2700000" algn="tl">
                              <a:srgbClr val="000000">
                                <a:alpha val="43137"/>
                              </a:srgbClr>
                            </a:outerShdw>
                          </a:effectLst>
                        </a:rPr>
                        <a:t>) </a:t>
                      </a:r>
                      <a:r>
                        <a:rPr lang="ar-EG" sz="2000" b="1" kern="1200" dirty="0">
                          <a:solidFill>
                            <a:schemeClr val="tx1"/>
                          </a:solidFill>
                          <a:effectLst>
                            <a:outerShdw blurRad="38100" dist="38100" dir="2700000" algn="tl">
                              <a:srgbClr val="000000">
                                <a:alpha val="43137"/>
                              </a:srgbClr>
                            </a:outerShdw>
                          </a:effectLst>
                        </a:rPr>
                        <a:t>،</a:t>
                      </a:r>
                      <a:r>
                        <a:rPr lang="ar-EG" sz="2000" b="1" kern="1200" baseline="0" dirty="0">
                          <a:solidFill>
                            <a:schemeClr val="tx1"/>
                          </a:solidFill>
                          <a:effectLst>
                            <a:outerShdw blurRad="38100" dist="38100" dir="2700000" algn="tl">
                              <a:srgbClr val="000000">
                                <a:alpha val="43137"/>
                              </a:srgbClr>
                            </a:outerShdw>
                          </a:effectLst>
                        </a:rPr>
                        <a:t> </a:t>
                      </a:r>
                      <a:r>
                        <a:rPr lang="ar-SA" sz="2000" b="1" kern="1200" dirty="0">
                          <a:solidFill>
                            <a:schemeClr val="tx1"/>
                          </a:solidFill>
                          <a:effectLst>
                            <a:outerShdw blurRad="38100" dist="38100" dir="2700000" algn="tl">
                              <a:srgbClr val="000000">
                                <a:alpha val="43137"/>
                              </a:srgbClr>
                            </a:outerShdw>
                          </a:effectLst>
                        </a:rPr>
                        <a:t>معك (أسم الموظف) من </a:t>
                      </a:r>
                      <a:r>
                        <a:rPr lang="ar-EG" sz="2000" b="1" kern="1200" dirty="0">
                          <a:solidFill>
                            <a:schemeClr val="tx1"/>
                          </a:solidFill>
                          <a:effectLst>
                            <a:outerShdw blurRad="38100" dist="38100" dir="2700000" algn="tl">
                              <a:srgbClr val="000000">
                                <a:alpha val="43137"/>
                              </a:srgbClr>
                            </a:outerShdw>
                          </a:effectLst>
                        </a:rPr>
                        <a:t>ال</a:t>
                      </a:r>
                      <a:r>
                        <a:rPr lang="ar-SA" sz="2000" b="1" kern="1200" dirty="0">
                          <a:solidFill>
                            <a:schemeClr val="tx1"/>
                          </a:solidFill>
                          <a:effectLst>
                            <a:outerShdw blurRad="38100" dist="38100" dir="2700000" algn="tl">
                              <a:srgbClr val="000000">
                                <a:alpha val="43137"/>
                              </a:srgbClr>
                            </a:outerShdw>
                          </a:effectLst>
                        </a:rPr>
                        <a:t>شركة السعودية </a:t>
                      </a:r>
                      <a:r>
                        <a:rPr lang="ar-EG" sz="2000" b="1" kern="1200" dirty="0">
                          <a:solidFill>
                            <a:schemeClr val="tx1"/>
                          </a:solidFill>
                          <a:effectLst>
                            <a:outerShdw blurRad="38100" dist="38100" dir="2700000" algn="tl">
                              <a:srgbClr val="000000">
                                <a:alpha val="43137"/>
                              </a:srgbClr>
                            </a:outerShdw>
                          </a:effectLst>
                        </a:rPr>
                        <a:t>للطاقة</a:t>
                      </a:r>
                      <a:r>
                        <a:rPr lang="ar-EG" sz="2000" b="1" kern="1200" baseline="0" dirty="0">
                          <a:solidFill>
                            <a:schemeClr val="tx1"/>
                          </a:solidFill>
                          <a:effectLst>
                            <a:outerShdw blurRad="38100" dist="38100" dir="2700000" algn="tl">
                              <a:srgbClr val="000000">
                                <a:alpha val="43137"/>
                              </a:srgbClr>
                            </a:outerShdw>
                          </a:effectLst>
                        </a:rPr>
                        <a:t> ؟</a:t>
                      </a: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a:txBody>
                  <a:tcPr/>
                </a:tc>
                <a:tc>
                  <a:txBody>
                    <a:bodyPr/>
                    <a:lstStyle/>
                    <a:p>
                      <a:pPr marL="0" marR="0" algn="ctr" rtl="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الموظف</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extLst>
                  <a:ext uri="{0D108BD9-81ED-4DB2-BD59-A6C34878D82A}">
                    <a16:rowId xmlns:a16="http://schemas.microsoft.com/office/drawing/2014/main" val="848535289"/>
                  </a:ext>
                </a:extLst>
              </a:tr>
              <a:tr h="422729">
                <a:tc>
                  <a:txBody>
                    <a:bodyPr/>
                    <a:lstStyle/>
                    <a:p>
                      <a:pPr algn="r"/>
                      <a:r>
                        <a:rPr lang="ar-SA" sz="2000" b="1" kern="1200" dirty="0">
                          <a:solidFill>
                            <a:schemeClr val="tx1"/>
                          </a:solidFill>
                          <a:effectLst>
                            <a:outerShdw blurRad="38100" dist="38100" dir="2700000" algn="tl">
                              <a:srgbClr val="000000">
                                <a:alpha val="43137"/>
                              </a:srgbClr>
                            </a:outerShdw>
                          </a:effectLst>
                        </a:rPr>
                        <a:t>وعليكم السلام ورحمة الله وبركاته. نعم</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algn="ctr"/>
                      <a:r>
                        <a:rPr lang="ar-EG" sz="2000" b="1" kern="1200" dirty="0">
                          <a:solidFill>
                            <a:schemeClr val="tx1"/>
                          </a:solidFill>
                          <a:effectLst>
                            <a:outerShdw blurRad="38100" dist="38100" dir="2700000" algn="tl">
                              <a:srgbClr val="000000">
                                <a:alpha val="43137"/>
                              </a:srgbClr>
                            </a:outerShdw>
                          </a:effectLst>
                        </a:rPr>
                        <a:t>العميل</a:t>
                      </a: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extLst>
                  <a:ext uri="{0D108BD9-81ED-4DB2-BD59-A6C34878D82A}">
                    <a16:rowId xmlns:a16="http://schemas.microsoft.com/office/drawing/2014/main" val="2670311634"/>
                  </a:ext>
                </a:extLst>
              </a:tr>
              <a:tr h="422729">
                <a:tc>
                  <a:txBody>
                    <a:bodyPr/>
                    <a:lstStyle/>
                    <a:p>
                      <a:pPr marL="0" marR="0" algn="r" defTabSz="914400" rtl="0" eaLnBrk="1" latinLnBrk="0" hangingPunct="1">
                        <a:lnSpc>
                          <a:spcPct val="107000"/>
                        </a:lnSpc>
                        <a:spcBef>
                          <a:spcPts val="0"/>
                        </a:spcBef>
                        <a:spcAft>
                          <a:spcPts val="0"/>
                        </a:spcAft>
                      </a:pPr>
                      <a:r>
                        <a:rPr lang="ar-SA" sz="2000" b="1" dirty="0">
                          <a:solidFill>
                            <a:schemeClr val="tx1"/>
                          </a:solidFill>
                          <a:effectLst/>
                        </a:rPr>
                        <a:t> </a:t>
                      </a:r>
                      <a:r>
                        <a:rPr lang="ar-SA" sz="2000" b="1" kern="1200" dirty="0">
                          <a:solidFill>
                            <a:schemeClr val="tx1"/>
                          </a:solidFill>
                          <a:effectLst>
                            <a:outerShdw blurRad="38100" dist="38100" dir="2700000" algn="tl">
                              <a:srgbClr val="000000">
                                <a:alpha val="43137"/>
                              </a:srgbClr>
                            </a:outerShdw>
                          </a:effectLst>
                        </a:rPr>
                        <a:t>تسمح لي بدقائق من وقتك</a:t>
                      </a:r>
                      <a:r>
                        <a:rPr lang="ar-EG" sz="2000" b="1" kern="1200" dirty="0">
                          <a:solidFill>
                            <a:schemeClr val="tx1"/>
                          </a:solidFill>
                          <a:effectLst>
                            <a:outerShdw blurRad="38100" dist="38100" dir="2700000" algn="tl">
                              <a:srgbClr val="000000">
                                <a:alpha val="43137"/>
                              </a:srgbClr>
                            </a:outerShdw>
                          </a:effectLst>
                        </a:rPr>
                        <a:t>   او  الوقت مناسب للاتصال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SA" sz="2000" b="1" kern="1200" dirty="0">
                          <a:solidFill>
                            <a:schemeClr val="tx1"/>
                          </a:solidFill>
                          <a:effectLst>
                            <a:outerShdw blurRad="38100" dist="38100" dir="2700000" algn="tl">
                              <a:srgbClr val="000000">
                                <a:alpha val="43137"/>
                              </a:srgbClr>
                            </a:outerShdw>
                          </a:effectLst>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893074360"/>
                  </a:ext>
                </a:extLst>
              </a:tr>
              <a:tr h="422729">
                <a:tc>
                  <a:txBody>
                    <a:bodyPr/>
                    <a:lstStyle/>
                    <a:p>
                      <a:pPr marL="0" marR="0" algn="r" defTabSz="914400" rtl="0"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نعم. تفضل</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2308561"/>
                  </a:ext>
                </a:extLst>
              </a:tr>
              <a:tr h="422729">
                <a:tc>
                  <a:txBody>
                    <a:bodyPr/>
                    <a:lstStyle/>
                    <a:p>
                      <a:pPr marL="0" marR="0" algn="r" defTabSz="914400" rtl="0" eaLnBrk="1" latinLnBrk="0" hangingPunct="1">
                        <a:lnSpc>
                          <a:spcPct val="107000"/>
                        </a:lnSpc>
                        <a:spcBef>
                          <a:spcPts val="0"/>
                        </a:spcBef>
                        <a:spcAft>
                          <a:spcPts val="0"/>
                        </a:spcAft>
                      </a:pPr>
                      <a:r>
                        <a:rPr lang="ar-SA" sz="2000" b="1" dirty="0">
                          <a:solidFill>
                            <a:schemeClr val="tx1"/>
                          </a:solidFill>
                          <a:effectLst/>
                        </a:rPr>
                        <a:t> </a:t>
                      </a:r>
                      <a:r>
                        <a:rPr lang="ar-SA" sz="2000" b="1" kern="1200" dirty="0">
                          <a:solidFill>
                            <a:schemeClr val="tx1"/>
                          </a:solidFill>
                          <a:effectLst>
                            <a:outerShdw blurRad="38100" dist="38100" dir="2700000" algn="tl">
                              <a:srgbClr val="000000">
                                <a:alpha val="43137"/>
                              </a:srgbClr>
                            </a:outerShdw>
                          </a:effectLst>
                        </a:rPr>
                        <a:t>أستاذي </a:t>
                      </a:r>
                      <a:r>
                        <a:rPr lang="ar-EG" sz="2000" b="1" kern="1200" dirty="0">
                          <a:solidFill>
                            <a:schemeClr val="tx1"/>
                          </a:solidFill>
                          <a:effectLst>
                            <a:outerShdw blurRad="38100" dist="38100" dir="2700000" algn="tl">
                              <a:srgbClr val="000000">
                                <a:alpha val="43137"/>
                              </a:srgbClr>
                            </a:outerShdw>
                          </a:effectLst>
                        </a:rPr>
                        <a:t>اذا ما عليك امر</a:t>
                      </a:r>
                      <a:r>
                        <a:rPr lang="ar-SA" sz="2000" b="1" kern="1200" dirty="0">
                          <a:solidFill>
                            <a:schemeClr val="tx1"/>
                          </a:solidFill>
                          <a:effectLst>
                            <a:outerShdw blurRad="38100" dist="38100" dir="2700000" algn="tl">
                              <a:srgbClr val="000000">
                                <a:alpha val="43137"/>
                              </a:srgbClr>
                            </a:outerShdw>
                          </a:effectLst>
                        </a:rPr>
                        <a:t>.</a:t>
                      </a:r>
                      <a:r>
                        <a:rPr lang="ar-EG" sz="2000" b="1" kern="1200" dirty="0">
                          <a:solidFill>
                            <a:schemeClr val="tx1"/>
                          </a:solidFill>
                          <a:effectLst>
                            <a:outerShdw blurRad="38100" dist="38100" dir="2700000" algn="tl">
                              <a:srgbClr val="000000">
                                <a:alpha val="43137"/>
                              </a:srgbClr>
                            </a:outerShdw>
                          </a:effectLst>
                        </a:rPr>
                        <a:t>  بكلمك بخصوص ( فاتورة)  أو  (مبلغ مستحق عليك) أو (مديونية) </a:t>
                      </a:r>
                      <a:r>
                        <a:rPr lang="ar-SA" sz="2000" b="1" kern="1200" dirty="0">
                          <a:solidFill>
                            <a:schemeClr val="tx1"/>
                          </a:solidFill>
                          <a:effectLst>
                            <a:outerShdw blurRad="38100" dist="38100" dir="2700000" algn="tl">
                              <a:srgbClr val="000000">
                                <a:alpha val="43137"/>
                              </a:srgbClr>
                            </a:outerShdw>
                          </a:effectLst>
                        </a:rPr>
                        <a:t>بقيمة (</a:t>
                      </a:r>
                      <a:r>
                        <a:rPr lang="ar-EG" sz="2000" b="1" kern="1200" dirty="0">
                          <a:solidFill>
                            <a:schemeClr val="tx1"/>
                          </a:solidFill>
                          <a:effectLst>
                            <a:outerShdw blurRad="38100" dist="38100" dir="2700000" algn="tl">
                              <a:srgbClr val="000000">
                                <a:alpha val="43137"/>
                              </a:srgbClr>
                            </a:outerShdw>
                          </a:effectLst>
                        </a:rPr>
                        <a:t>   مراعاة ذكر المبلغ بالالف والمائة والريال والهلله) </a:t>
                      </a:r>
                      <a:r>
                        <a:rPr lang="ar-SA" sz="2000" b="1" kern="1200" dirty="0">
                          <a:solidFill>
                            <a:schemeClr val="tx1"/>
                          </a:solidFill>
                          <a:effectLst>
                            <a:outerShdw blurRad="38100" dist="38100" dir="2700000" algn="tl">
                              <a:srgbClr val="000000">
                                <a:alpha val="43137"/>
                              </a:srgbClr>
                            </a:outerShdw>
                          </a:effectLst>
                        </a:rPr>
                        <a:t>على  </a:t>
                      </a:r>
                      <a:r>
                        <a:rPr lang="ar-EG" sz="2000" b="1" kern="1200" dirty="0">
                          <a:solidFill>
                            <a:schemeClr val="tx1"/>
                          </a:solidFill>
                          <a:effectLst>
                            <a:outerShdw blurRad="38100" dist="38100" dir="2700000" algn="tl">
                              <a:srgbClr val="000000">
                                <a:alpha val="43137"/>
                              </a:srgbClr>
                            </a:outerShdw>
                          </a:effectLst>
                        </a:rPr>
                        <a:t>نهاية </a:t>
                      </a:r>
                      <a:r>
                        <a:rPr lang="ar-SA" sz="2000" b="1" kern="1200" dirty="0">
                          <a:solidFill>
                            <a:schemeClr val="tx1"/>
                          </a:solidFill>
                          <a:effectLst>
                            <a:outerShdw blurRad="38100" dist="38100" dir="2700000" algn="tl">
                              <a:srgbClr val="000000">
                                <a:alpha val="43137"/>
                              </a:srgbClr>
                            </a:outerShdw>
                          </a:effectLst>
                        </a:rPr>
                        <a:t>رقم </a:t>
                      </a:r>
                      <a:r>
                        <a:rPr lang="ar-EG" sz="2000" b="1" kern="1200" dirty="0">
                          <a:solidFill>
                            <a:schemeClr val="tx1"/>
                          </a:solidFill>
                          <a:effectLst>
                            <a:outerShdw blurRad="38100" dist="38100" dir="2700000" algn="tl">
                              <a:srgbClr val="000000">
                                <a:alpha val="43137"/>
                              </a:srgbClr>
                            </a:outerShdw>
                          </a:effectLst>
                        </a:rPr>
                        <a:t>ال</a:t>
                      </a:r>
                      <a:r>
                        <a:rPr lang="ar-SA" sz="2000" b="1" kern="1200" dirty="0">
                          <a:solidFill>
                            <a:schemeClr val="tx1"/>
                          </a:solidFill>
                          <a:effectLst>
                            <a:outerShdw blurRad="38100" dist="38100" dir="2700000" algn="tl">
                              <a:srgbClr val="000000">
                                <a:alpha val="43137"/>
                              </a:srgbClr>
                            </a:outerShdw>
                          </a:effectLst>
                        </a:rPr>
                        <a:t>حساب</a:t>
                      </a:r>
                      <a:r>
                        <a:rPr lang="ar-EG" sz="2000" b="1" kern="1200" dirty="0">
                          <a:solidFill>
                            <a:schemeClr val="tx1"/>
                          </a:solidFill>
                          <a:effectLst>
                            <a:outerShdw blurRad="38100" dist="38100" dir="2700000" algn="tl">
                              <a:srgbClr val="000000">
                                <a:alpha val="43137"/>
                              </a:srgbClr>
                            </a:outerShdw>
                          </a:effectLst>
                        </a:rPr>
                        <a:t> </a:t>
                      </a:r>
                      <a:r>
                        <a:rPr lang="ar-SA" sz="2000" b="1" kern="1200" dirty="0">
                          <a:solidFill>
                            <a:schemeClr val="tx1"/>
                          </a:solidFill>
                          <a:effectLst>
                            <a:outerShdw blurRad="38100" dist="38100" dir="2700000" algn="tl">
                              <a:srgbClr val="000000">
                                <a:alpha val="43137"/>
                              </a:srgbClr>
                            </a:outerShdw>
                          </a:effectLst>
                        </a:rPr>
                        <a:t>(</a:t>
                      </a:r>
                      <a:r>
                        <a:rPr lang="ar-EG" sz="2000" b="1" kern="1200" dirty="0">
                          <a:solidFill>
                            <a:schemeClr val="tx1"/>
                          </a:solidFill>
                          <a:effectLst>
                            <a:outerShdw blurRad="38100" dist="38100" dir="2700000" algn="tl">
                              <a:srgbClr val="000000">
                                <a:alpha val="43137"/>
                              </a:srgbClr>
                            </a:outerShdw>
                          </a:effectLst>
                        </a:rPr>
                        <a:t>  </a:t>
                      </a:r>
                      <a:r>
                        <a:rPr lang="ar-SA" sz="2000" b="1" kern="1200" dirty="0">
                          <a:solidFill>
                            <a:schemeClr val="tx1"/>
                          </a:solidFill>
                          <a:effectLst>
                            <a:outerShdw blurRad="38100" dist="38100" dir="2700000" algn="tl">
                              <a:srgbClr val="000000">
                                <a:alpha val="43137"/>
                              </a:srgbClr>
                            </a:outerShdw>
                          </a:effectLst>
                        </a:rPr>
                        <a:t>)</a:t>
                      </a:r>
                      <a:r>
                        <a:rPr lang="ar-EG" sz="2000" b="1" kern="1200" dirty="0">
                          <a:solidFill>
                            <a:schemeClr val="tx1"/>
                          </a:solidFill>
                          <a:effectLst>
                            <a:outerShdw blurRad="38100" dist="38100" dir="2700000" algn="tl">
                              <a:srgbClr val="000000">
                                <a:alpha val="43137"/>
                              </a:srgbClr>
                            </a:outerShdw>
                          </a:effectLst>
                        </a:rPr>
                        <a:t>   . وذكر المنطقه . </a:t>
                      </a:r>
                      <a:r>
                        <a:rPr lang="ar-SA" sz="2000" b="1" kern="1200" dirty="0">
                          <a:solidFill>
                            <a:schemeClr val="tx1"/>
                          </a:solidFill>
                          <a:effectLst>
                            <a:outerShdw blurRad="38100" dist="38100" dir="2700000" algn="tl">
                              <a:srgbClr val="000000">
                                <a:alpha val="43137"/>
                              </a:srgbClr>
                            </a:outerShdw>
                          </a:effectLst>
                        </a:rPr>
                        <a:t>نامل منك سداده</a:t>
                      </a:r>
                      <a:r>
                        <a:rPr lang="ar-EG" sz="2000" b="1" kern="1200" dirty="0">
                          <a:solidFill>
                            <a:schemeClr val="tx1"/>
                          </a:solidFill>
                          <a:effectLst>
                            <a:outerShdw blurRad="38100" dist="38100" dir="2700000" algn="tl">
                              <a:srgbClr val="000000">
                                <a:alpha val="43137"/>
                              </a:srgbClr>
                            </a:outerShdw>
                          </a:effectLst>
                        </a:rPr>
                        <a:t>ا فى أقرب وقت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950695311"/>
                  </a:ext>
                </a:extLst>
              </a:tr>
              <a:tr h="422729">
                <a:tc>
                  <a:txBody>
                    <a:bodyPr/>
                    <a:lstStyle/>
                    <a:p>
                      <a:pPr marL="0" marR="0" algn="r" rtl="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سيتم سدادها ب</a:t>
                      </a:r>
                      <a:r>
                        <a:rPr lang="ar-EG" sz="2000" b="1" kern="1200" dirty="0">
                          <a:solidFill>
                            <a:schemeClr val="tx1"/>
                          </a:solidFill>
                          <a:effectLst>
                            <a:outerShdw blurRad="38100" dist="38100" dir="2700000" algn="tl">
                              <a:srgbClr val="000000">
                                <a:alpha val="43137"/>
                              </a:srgbClr>
                            </a:outerShdw>
                          </a:effectLst>
                        </a:rPr>
                        <a:t>إ</a:t>
                      </a:r>
                      <a:r>
                        <a:rPr lang="ar-SA" sz="2000" b="1" kern="1200" dirty="0">
                          <a:solidFill>
                            <a:schemeClr val="tx1"/>
                          </a:solidFill>
                          <a:effectLst>
                            <a:outerShdw blurRad="38100" dist="38100" dir="2700000" algn="tl">
                              <a:srgbClr val="000000">
                                <a:alpha val="43137"/>
                              </a:srgbClr>
                            </a:outerShdw>
                          </a:effectLst>
                        </a:rPr>
                        <a:t>ذن الله</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371171180"/>
                  </a:ext>
                </a:extLst>
              </a:tr>
              <a:tr h="422729">
                <a:tc>
                  <a:txBody>
                    <a:bodyPr/>
                    <a:lstStyle/>
                    <a:p>
                      <a:pPr algn="r"/>
                      <a:r>
                        <a:rPr lang="ar-SA" sz="2000" b="1" kern="1200" dirty="0">
                          <a:solidFill>
                            <a:schemeClr val="tx1"/>
                          </a:solidFill>
                          <a:effectLst>
                            <a:outerShdw blurRad="38100" dist="38100" dir="2700000" algn="tl">
                              <a:srgbClr val="000000">
                                <a:alpha val="43137"/>
                              </a:srgbClr>
                            </a:outerShdw>
                          </a:effectLst>
                        </a:rPr>
                        <a:t>بامكانك السداد عن طريق خدمة الصراف الالي او </a:t>
                      </a:r>
                      <a:r>
                        <a:rPr lang="ar-EG" sz="2000" b="1" kern="1200" dirty="0">
                          <a:solidFill>
                            <a:schemeClr val="tx1"/>
                          </a:solidFill>
                          <a:effectLst>
                            <a:outerShdw blurRad="38100" dist="38100" dir="2700000" algn="tl">
                              <a:srgbClr val="000000">
                                <a:alpha val="43137"/>
                              </a:srgbClr>
                            </a:outerShdw>
                          </a:effectLst>
                        </a:rPr>
                        <a:t>التطبيق البنكى</a:t>
                      </a:r>
                      <a:r>
                        <a:rPr lang="ar-SA" sz="2000" b="1" kern="1200" dirty="0">
                          <a:solidFill>
                            <a:schemeClr val="tx1"/>
                          </a:solidFill>
                          <a:effectLst>
                            <a:outerShdw blurRad="38100" dist="38100" dir="2700000" algn="tl">
                              <a:srgbClr val="000000">
                                <a:alpha val="43137"/>
                              </a:srgbClr>
                            </a:outerShdw>
                          </a:effectLst>
                        </a:rPr>
                        <a:t> أو بزيارة أحد فروع الشركة السعودية </a:t>
                      </a:r>
                      <a:r>
                        <a:rPr lang="ar-EG" sz="2000" b="1" kern="1200" dirty="0">
                          <a:solidFill>
                            <a:schemeClr val="tx1"/>
                          </a:solidFill>
                          <a:effectLst>
                            <a:outerShdw blurRad="38100" dist="38100" dir="2700000" algn="tl">
                              <a:srgbClr val="000000">
                                <a:alpha val="43137"/>
                              </a:srgbClr>
                            </a:outerShdw>
                          </a:effectLst>
                        </a:rPr>
                        <a:t>للطاقة</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793807110"/>
                  </a:ext>
                </a:extLst>
              </a:tr>
              <a:tr h="422729">
                <a:tc>
                  <a:txBody>
                    <a:bodyPr/>
                    <a:lstStyle/>
                    <a:p>
                      <a:pPr marL="0" marR="0" algn="r" defTabSz="914400" rtl="0"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 استاذي الفاضل هل لديك أي استفسارات اخرى بخصوص عملية و طرق السداد؟</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266809257"/>
                  </a:ext>
                </a:extLst>
              </a:tr>
              <a:tr h="422729">
                <a:tc>
                  <a:txBody>
                    <a:bodyPr/>
                    <a:lstStyle/>
                    <a:p>
                      <a:pPr marL="0" marR="0" algn="r" rtl="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(لا يوجد استفسارات)</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EG" sz="2000" b="1" kern="1200" dirty="0">
                          <a:solidFill>
                            <a:schemeClr val="tx1"/>
                          </a:solidFill>
                          <a:effectLst>
                            <a:outerShdw blurRad="38100" dist="38100" dir="2700000" algn="tl">
                              <a:srgbClr val="000000">
                                <a:alpha val="43137"/>
                              </a:srgbClr>
                            </a:outerShdw>
                          </a:effectLst>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4228639323"/>
                  </a:ext>
                </a:extLst>
              </a:tr>
              <a:tr h="422729">
                <a:tc>
                  <a:txBody>
                    <a:bodyPr/>
                    <a:lstStyle/>
                    <a:p>
                      <a:pPr marL="0" marR="0" algn="r" defTabSz="914400" rtl="1"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اشكرك على وقتك.</a:t>
                      </a:r>
                      <a:r>
                        <a:rPr lang="ar-EG" sz="2000" b="1" kern="1200" dirty="0">
                          <a:solidFill>
                            <a:schemeClr val="tx1"/>
                          </a:solidFill>
                          <a:effectLst>
                            <a:outerShdw blurRad="38100" dist="38100" dir="2700000" algn="tl">
                              <a:srgbClr val="000000">
                                <a:alpha val="43137"/>
                              </a:srgbClr>
                            </a:outerShdw>
                          </a:effectLst>
                        </a:rPr>
                        <a:t>..</a:t>
                      </a:r>
                      <a:r>
                        <a:rPr lang="ar-SA" sz="2000" b="1" kern="1200" dirty="0">
                          <a:solidFill>
                            <a:schemeClr val="tx1"/>
                          </a:solidFill>
                          <a:effectLst>
                            <a:outerShdw blurRad="38100" dist="38100" dir="2700000" algn="tl">
                              <a:srgbClr val="000000">
                                <a:alpha val="43137"/>
                              </a:srgbClr>
                            </a:outerShdw>
                          </a:effectLst>
                        </a:rPr>
                        <a:t> في امان الله</a:t>
                      </a:r>
                      <a:r>
                        <a:rPr lang="ar-EG" sz="2000" b="1" kern="1200" dirty="0">
                          <a:solidFill>
                            <a:schemeClr val="tx1"/>
                          </a:solidFill>
                          <a:effectLst>
                            <a:outerShdw blurRad="38100" dist="38100" dir="2700000" algn="tl">
                              <a:srgbClr val="000000">
                                <a:alpha val="43137"/>
                              </a:srgbClr>
                            </a:outerShdw>
                          </a:effectLst>
                        </a:rPr>
                        <a:t>...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SA" sz="2000" b="1" kern="1200" dirty="0">
                          <a:solidFill>
                            <a:schemeClr val="tx1"/>
                          </a:solidFill>
                          <a:effectLst>
                            <a:outerShdw blurRad="38100" dist="38100" dir="2700000" algn="tl">
                              <a:srgbClr val="000000">
                                <a:alpha val="43137"/>
                              </a:srgbClr>
                            </a:outerShdw>
                          </a:effectLst>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4153922697"/>
                  </a:ext>
                </a:extLst>
              </a:tr>
            </a:tbl>
          </a:graphicData>
        </a:graphic>
      </p:graphicFrame>
      <p:sp>
        <p:nvSpPr>
          <p:cNvPr id="4" name="Rectangle 3">
            <a:extLst>
              <a:ext uri="{FF2B5EF4-FFF2-40B4-BE49-F238E27FC236}">
                <a16:creationId xmlns:a16="http://schemas.microsoft.com/office/drawing/2014/main" id="{A136E846-D9E4-424D-AB4F-0852AA15D5F9}"/>
              </a:ext>
            </a:extLst>
          </p:cNvPr>
          <p:cNvSpPr/>
          <p:nvPr/>
        </p:nvSpPr>
        <p:spPr>
          <a:xfrm>
            <a:off x="6390640" y="719341"/>
            <a:ext cx="5413950" cy="584775"/>
          </a:xfrm>
          <a:prstGeom prst="rect">
            <a:avLst/>
          </a:prstGeom>
        </p:spPr>
        <p:txBody>
          <a:bodyPr wrap="square">
            <a:spAutoFit/>
          </a:bodyPr>
          <a:lstStyle/>
          <a:p>
            <a:pPr algn="r"/>
            <a:r>
              <a:rPr lang="ar-SA"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نص مكالمة – </a:t>
            </a:r>
            <a:r>
              <a:rPr lang="ar-EG"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المكالمة الاولي</a:t>
            </a:r>
            <a:endParaRPr lang="en-US"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31839CF1-CB44-4F64-AA86-1A3415D009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5850" y="263708"/>
            <a:ext cx="1541483" cy="494509"/>
          </a:xfrm>
          <a:prstGeom prst="rect">
            <a:avLst/>
          </a:prstGeom>
        </p:spPr>
      </p:pic>
      <p:pic>
        <p:nvPicPr>
          <p:cNvPr id="6" name="Graphic 5">
            <a:extLst>
              <a:ext uri="{FF2B5EF4-FFF2-40B4-BE49-F238E27FC236}">
                <a16:creationId xmlns:a16="http://schemas.microsoft.com/office/drawing/2014/main" id="{BA199FDF-45AE-41DD-BEF2-70DCB8A6ECB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5552" y="75050"/>
            <a:ext cx="1023679" cy="884875"/>
          </a:xfrm>
          <a:prstGeom prst="rect">
            <a:avLst/>
          </a:prstGeom>
        </p:spPr>
      </p:pic>
      <p:sp>
        <p:nvSpPr>
          <p:cNvPr id="7" name="Rectangle 6">
            <a:extLst>
              <a:ext uri="{FF2B5EF4-FFF2-40B4-BE49-F238E27FC236}">
                <a16:creationId xmlns:a16="http://schemas.microsoft.com/office/drawing/2014/main" id="{9DB1DC27-6FBE-4463-AC58-7A1148417926}"/>
              </a:ext>
            </a:extLst>
          </p:cNvPr>
          <p:cNvSpPr/>
          <p:nvPr/>
        </p:nvSpPr>
        <p:spPr>
          <a:xfrm>
            <a:off x="1929760" y="122007"/>
            <a:ext cx="45719" cy="777909"/>
          </a:xfrm>
          <a:prstGeom prst="rect">
            <a:avLst/>
          </a:prstGeom>
          <a:solidFill>
            <a:srgbClr val="008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483923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1748551367"/>
              </p:ext>
            </p:extLst>
          </p:nvPr>
        </p:nvGraphicFramePr>
        <p:xfrm>
          <a:off x="204316" y="1321900"/>
          <a:ext cx="11776105" cy="5468338"/>
        </p:xfrm>
        <a:graphic>
          <a:graphicData uri="http://schemas.openxmlformats.org/drawingml/2006/table">
            <a:tbl>
              <a:tblPr bandRow="1">
                <a:tableStyleId>{C083E6E3-FA7D-4D7B-A595-EF9225AFEA82}</a:tableStyleId>
              </a:tblPr>
              <a:tblGrid>
                <a:gridCol w="10367375">
                  <a:extLst>
                    <a:ext uri="{9D8B030D-6E8A-4147-A177-3AD203B41FA5}">
                      <a16:colId xmlns:a16="http://schemas.microsoft.com/office/drawing/2014/main" val="3721312307"/>
                    </a:ext>
                  </a:extLst>
                </a:gridCol>
                <a:gridCol w="1408730">
                  <a:extLst>
                    <a:ext uri="{9D8B030D-6E8A-4147-A177-3AD203B41FA5}">
                      <a16:colId xmlns:a16="http://schemas.microsoft.com/office/drawing/2014/main" val="4197285037"/>
                    </a:ext>
                  </a:extLst>
                </a:gridCol>
              </a:tblGrid>
              <a:tr h="793430">
                <a:tc>
                  <a:txBody>
                    <a:bodyPr/>
                    <a:lstStyle/>
                    <a:p>
                      <a:pPr marL="0" marR="0" algn="r" defTabSz="914400" rtl="1"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السلام عليكم</a:t>
                      </a:r>
                      <a:r>
                        <a:rPr lang="ar-EG" sz="2000" b="1" kern="1200" baseline="0" dirty="0">
                          <a:solidFill>
                            <a:schemeClr val="tx1"/>
                          </a:solidFill>
                          <a:effectLst>
                            <a:outerShdw blurRad="38100" dist="38100" dir="2700000" algn="tl">
                              <a:srgbClr val="000000">
                                <a:alpha val="43137"/>
                              </a:srgbClr>
                            </a:outerShdw>
                          </a:effectLst>
                        </a:rPr>
                        <a:t> </a:t>
                      </a:r>
                      <a:r>
                        <a:rPr lang="ar-SA" sz="2000" b="1" kern="1200" dirty="0">
                          <a:solidFill>
                            <a:schemeClr val="tx1"/>
                          </a:solidFill>
                          <a:effectLst>
                            <a:outerShdw blurRad="38100" dist="38100" dir="2700000" algn="tl">
                              <a:srgbClr val="000000">
                                <a:alpha val="43137"/>
                              </a:srgbClr>
                            </a:outerShdw>
                          </a:effectLst>
                        </a:rPr>
                        <a:t>، ( </a:t>
                      </a:r>
                      <a:r>
                        <a:rPr lang="ar-EG" sz="2000" b="1" kern="1200" dirty="0">
                          <a:solidFill>
                            <a:schemeClr val="tx1"/>
                          </a:solidFill>
                          <a:effectLst>
                            <a:outerShdw blurRad="38100" dist="38100" dir="2700000" algn="tl">
                              <a:srgbClr val="000000">
                                <a:alpha val="43137"/>
                              </a:srgbClr>
                            </a:outerShdw>
                          </a:effectLst>
                        </a:rPr>
                        <a:t>مساك الله بالخير / صبحك الله بالخير</a:t>
                      </a:r>
                      <a:r>
                        <a:rPr lang="ar-SA" sz="2000" b="1" kern="1200" dirty="0">
                          <a:solidFill>
                            <a:schemeClr val="tx1"/>
                          </a:solidFill>
                          <a:effectLst>
                            <a:outerShdw blurRad="38100" dist="38100" dir="2700000" algn="tl">
                              <a:srgbClr val="000000">
                                <a:alpha val="43137"/>
                              </a:srgbClr>
                            </a:outerShdw>
                          </a:effectLst>
                        </a:rPr>
                        <a:t>) </a:t>
                      </a:r>
                      <a:r>
                        <a:rPr lang="ar-EG" sz="2000" b="1" kern="1200" dirty="0">
                          <a:solidFill>
                            <a:schemeClr val="tx1"/>
                          </a:solidFill>
                          <a:effectLst>
                            <a:outerShdw blurRad="38100" dist="38100" dir="2700000" algn="tl">
                              <a:srgbClr val="000000">
                                <a:alpha val="43137"/>
                              </a:srgbClr>
                            </a:outerShdw>
                          </a:effectLst>
                        </a:rPr>
                        <a:t>(مع ذكر اسم العميل )،</a:t>
                      </a:r>
                      <a:r>
                        <a:rPr lang="ar-EG" sz="2000" b="1" kern="1200" baseline="0" dirty="0">
                          <a:solidFill>
                            <a:schemeClr val="tx1"/>
                          </a:solidFill>
                          <a:effectLst>
                            <a:outerShdw blurRad="38100" dist="38100" dir="2700000" algn="tl">
                              <a:srgbClr val="000000">
                                <a:alpha val="43137"/>
                              </a:srgbClr>
                            </a:outerShdw>
                          </a:effectLst>
                        </a:rPr>
                        <a:t> </a:t>
                      </a:r>
                      <a:r>
                        <a:rPr lang="ar-SA" sz="2000" b="1" kern="1200" dirty="0">
                          <a:solidFill>
                            <a:schemeClr val="tx1"/>
                          </a:solidFill>
                          <a:effectLst>
                            <a:outerShdw blurRad="38100" dist="38100" dir="2700000" algn="tl">
                              <a:srgbClr val="000000">
                                <a:alpha val="43137"/>
                              </a:srgbClr>
                            </a:outerShdw>
                          </a:effectLst>
                        </a:rPr>
                        <a:t>معك (أسم الموظف) من </a:t>
                      </a:r>
                      <a:r>
                        <a:rPr lang="ar-EG" sz="2000" b="1" kern="1200" dirty="0">
                          <a:solidFill>
                            <a:schemeClr val="tx1"/>
                          </a:solidFill>
                          <a:effectLst>
                            <a:outerShdw blurRad="38100" dist="38100" dir="2700000" algn="tl">
                              <a:srgbClr val="000000">
                                <a:alpha val="43137"/>
                              </a:srgbClr>
                            </a:outerShdw>
                          </a:effectLst>
                        </a:rPr>
                        <a:t>ال</a:t>
                      </a:r>
                      <a:r>
                        <a:rPr lang="ar-SA" sz="2000" b="1" kern="1200" dirty="0">
                          <a:solidFill>
                            <a:schemeClr val="tx1"/>
                          </a:solidFill>
                          <a:effectLst>
                            <a:outerShdw blurRad="38100" dist="38100" dir="2700000" algn="tl">
                              <a:srgbClr val="000000">
                                <a:alpha val="43137"/>
                              </a:srgbClr>
                            </a:outerShdw>
                          </a:effectLst>
                        </a:rPr>
                        <a:t>شركة السعودية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mn-cs"/>
                        </a:rPr>
                        <a:t>للطاقة</a:t>
                      </a:r>
                      <a:r>
                        <a:rPr lang="ar-EG" sz="2000" b="1" kern="1200" baseline="0" dirty="0">
                          <a:solidFill>
                            <a:schemeClr val="tx1"/>
                          </a:solidFill>
                          <a:effectLst>
                            <a:outerShdw blurRad="38100" dist="38100" dir="2700000" algn="tl">
                              <a:srgbClr val="000000">
                                <a:alpha val="43137"/>
                              </a:srgbClr>
                            </a:outerShdw>
                          </a:effectLst>
                        </a:rPr>
                        <a:t> </a:t>
                      </a:r>
                      <a:r>
                        <a:rPr lang="ar-SA" sz="2000" b="1" kern="1200" dirty="0">
                          <a:solidFill>
                            <a:schemeClr val="tx1"/>
                          </a:solidFill>
                          <a:effectLst>
                            <a:outerShdw blurRad="38100" dist="38100" dir="2700000" algn="tl">
                              <a:srgbClr val="000000">
                                <a:alpha val="43137"/>
                              </a:srgbClr>
                            </a:outerShdw>
                          </a:effectLst>
                        </a:rPr>
                        <a:t>؟</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marL="0" marR="0" algn="ctr" rtl="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الموظف</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extLst>
                  <a:ext uri="{0D108BD9-81ED-4DB2-BD59-A6C34878D82A}">
                    <a16:rowId xmlns:a16="http://schemas.microsoft.com/office/drawing/2014/main" val="4114411676"/>
                  </a:ext>
                </a:extLst>
              </a:tr>
              <a:tr h="422729">
                <a:tc>
                  <a:txBody>
                    <a:bodyPr/>
                    <a:lstStyle/>
                    <a:p>
                      <a:pPr algn="r"/>
                      <a:r>
                        <a:rPr lang="ar-SA" sz="2000" b="1" kern="1200" dirty="0">
                          <a:solidFill>
                            <a:schemeClr val="tx1"/>
                          </a:solidFill>
                          <a:effectLst>
                            <a:outerShdw blurRad="38100" dist="38100" dir="2700000" algn="tl">
                              <a:srgbClr val="000000">
                                <a:alpha val="43137"/>
                              </a:srgbClr>
                            </a:outerShdw>
                          </a:effectLst>
                        </a:rPr>
                        <a:t>وعليكم السلام ورحمة الله وبركاته. نعم</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algn="ctr"/>
                      <a:r>
                        <a:rPr lang="ar-EG" sz="2000" b="1" kern="1200" dirty="0">
                          <a:solidFill>
                            <a:schemeClr val="tx1"/>
                          </a:solidFill>
                          <a:effectLst>
                            <a:outerShdw blurRad="38100" dist="38100" dir="2700000" algn="tl">
                              <a:srgbClr val="000000">
                                <a:alpha val="43137"/>
                              </a:srgbClr>
                            </a:outerShdw>
                          </a:effectLst>
                        </a:rPr>
                        <a:t>العميل</a:t>
                      </a: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extLst>
                  <a:ext uri="{0D108BD9-81ED-4DB2-BD59-A6C34878D82A}">
                    <a16:rowId xmlns:a16="http://schemas.microsoft.com/office/drawing/2014/main" val="859014750"/>
                  </a:ext>
                </a:extLst>
              </a:tr>
              <a:tr h="422729">
                <a:tc>
                  <a:txBody>
                    <a:bodyPr/>
                    <a:lstStyle/>
                    <a:p>
                      <a:pPr marL="0" marR="0" algn="r" defTabSz="914400" rtl="0" eaLnBrk="1" latinLnBrk="0" hangingPunct="1">
                        <a:lnSpc>
                          <a:spcPct val="107000"/>
                        </a:lnSpc>
                        <a:spcBef>
                          <a:spcPts val="0"/>
                        </a:spcBef>
                        <a:spcAft>
                          <a:spcPts val="0"/>
                        </a:spcAft>
                      </a:pPr>
                      <a:r>
                        <a:rPr lang="ar-SA" sz="2000" b="1" dirty="0">
                          <a:solidFill>
                            <a:schemeClr val="tx1"/>
                          </a:solidFill>
                          <a:effectLst/>
                        </a:rPr>
                        <a:t> </a:t>
                      </a:r>
                      <a:r>
                        <a:rPr lang="ar-SA" sz="2000" b="1" kern="1200" dirty="0">
                          <a:solidFill>
                            <a:schemeClr val="tx1"/>
                          </a:solidFill>
                          <a:effectLst>
                            <a:outerShdw blurRad="38100" dist="38100" dir="2700000" algn="tl">
                              <a:srgbClr val="000000">
                                <a:alpha val="43137"/>
                              </a:srgbClr>
                            </a:outerShdw>
                          </a:effectLst>
                        </a:rPr>
                        <a:t>أستاذي </a:t>
                      </a:r>
                      <a:r>
                        <a:rPr lang="ar-EG" sz="2000" b="1" kern="1200" dirty="0">
                          <a:solidFill>
                            <a:schemeClr val="tx1"/>
                          </a:solidFill>
                          <a:effectLst>
                            <a:outerShdw blurRad="38100" dist="38100" dir="2700000" algn="tl">
                              <a:srgbClr val="000000">
                                <a:alpha val="43137"/>
                              </a:srgbClr>
                            </a:outerShdw>
                          </a:effectLst>
                        </a:rPr>
                        <a:t>اذا ما عليك امر</a:t>
                      </a:r>
                      <a:r>
                        <a:rPr lang="ar-SA" sz="2000" b="1" kern="1200" dirty="0">
                          <a:solidFill>
                            <a:schemeClr val="tx1"/>
                          </a:solidFill>
                          <a:effectLst>
                            <a:outerShdw blurRad="38100" dist="38100" dir="2700000" algn="tl">
                              <a:srgbClr val="000000">
                                <a:alpha val="43137"/>
                              </a:srgbClr>
                            </a:outerShdw>
                          </a:effectLst>
                        </a:rPr>
                        <a:t>.</a:t>
                      </a:r>
                      <a:r>
                        <a:rPr lang="ar-EG" sz="2000" b="1" kern="1200" dirty="0">
                          <a:solidFill>
                            <a:schemeClr val="tx1"/>
                          </a:solidFill>
                          <a:effectLst>
                            <a:outerShdw blurRad="38100" dist="38100" dir="2700000" algn="tl">
                              <a:srgbClr val="000000">
                                <a:alpha val="43137"/>
                              </a:srgbClr>
                            </a:outerShdw>
                          </a:effectLst>
                        </a:rPr>
                        <a:t>  سبق ان تم التواصل معك . بخصوص فاتورة كهرباء . حبينا نتابع معك . وش صار  بخصوص الفاتورة ياغالي؟</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11762761"/>
                  </a:ext>
                </a:extLst>
              </a:tr>
              <a:tr h="422729">
                <a:tc>
                  <a:txBody>
                    <a:bodyPr/>
                    <a:lstStyle/>
                    <a:p>
                      <a:pPr marL="0" marR="0" algn="r" rtl="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rPr>
                        <a:t>باقي ما اتاكدت منها / ارسلي الفاتورة للتاكد</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799017468"/>
                  </a:ext>
                </a:extLst>
              </a:tr>
              <a:tr h="422729">
                <a:tc>
                  <a:txBody>
                    <a:bodyPr/>
                    <a:lstStyle/>
                    <a:p>
                      <a:pPr algn="r"/>
                      <a:r>
                        <a:rPr lang="ar-EG" sz="2000" b="1" kern="1200" dirty="0">
                          <a:solidFill>
                            <a:schemeClr val="tx1"/>
                          </a:solidFill>
                          <a:effectLst>
                            <a:outerShdw blurRad="38100" dist="38100" dir="2700000" algn="tl">
                              <a:srgbClr val="000000">
                                <a:alpha val="43137"/>
                              </a:srgbClr>
                            </a:outerShdw>
                          </a:effectLst>
                        </a:rPr>
                        <a:t>سوف يتم ارسال رسالة نصية بالتفاصيل / او  يمكنك التاكد من خلال التطبيق الكهرباء او موقع الشركة او الدعم الفني على 933</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476988691"/>
                  </a:ext>
                </a:extLst>
              </a:tr>
              <a:tr h="422729">
                <a:tc>
                  <a:txBody>
                    <a:bodyPr/>
                    <a:lstStyle/>
                    <a:p>
                      <a:pPr marL="0" marR="0" algn="r" defTabSz="914400" rtl="0"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 </a:t>
                      </a:r>
                      <a:r>
                        <a:rPr lang="ar-EG" sz="2000" b="1" kern="1200" dirty="0">
                          <a:solidFill>
                            <a:schemeClr val="tx1"/>
                          </a:solidFill>
                          <a:effectLst>
                            <a:outerShdw blurRad="38100" dist="38100" dir="2700000" algn="tl">
                              <a:srgbClr val="000000">
                                <a:alpha val="43137"/>
                              </a:srgbClr>
                            </a:outerShdw>
                          </a:effectLst>
                        </a:rPr>
                        <a:t>تمام ان شاء الله بتاكد منها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rPr>
                        <a:t>العميل </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811835654"/>
                  </a:ext>
                </a:extLst>
              </a:tr>
              <a:tr h="422729">
                <a:tc>
                  <a:txBody>
                    <a:bodyPr/>
                    <a:lstStyle/>
                    <a:p>
                      <a:pPr marL="0" marR="0" algn="r" rtl="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rPr>
                        <a:t>خلاص ان شاء الله بيتم التواصل معك خلال اسبوع . عندك اي استفسار  اخر  بخصوص الفاتورة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EG" sz="2000" b="1" kern="1200" dirty="0">
                          <a:solidFill>
                            <a:schemeClr val="tx1"/>
                          </a:solidFill>
                          <a:effectLst>
                            <a:outerShdw blurRad="38100" dist="38100" dir="2700000" algn="tl">
                              <a:srgbClr val="000000">
                                <a:alpha val="43137"/>
                              </a:srgbClr>
                            </a:outerShdw>
                          </a:effectLst>
                        </a:rPr>
                        <a:t>الموظف </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079614071"/>
                  </a:ext>
                </a:extLst>
              </a:tr>
              <a:tr h="422729">
                <a:tc>
                  <a:txBody>
                    <a:bodyPr/>
                    <a:lstStyle/>
                    <a:p>
                      <a:pPr marL="0" marR="0" algn="r" defTabSz="914400" rtl="1"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rPr>
                        <a:t>لا شكرا يعطيك العافية.</a:t>
                      </a:r>
                    </a:p>
                    <a:p>
                      <a:pPr marL="0" marR="0" algn="r" defTabSz="914400" rtl="1" eaLnBrk="1" latinLnBrk="0" hangingPunct="1">
                        <a:lnSpc>
                          <a:spcPct val="107000"/>
                        </a:lnSpc>
                        <a:spcBef>
                          <a:spcPts val="0"/>
                        </a:spcBef>
                        <a:spcAft>
                          <a:spcPts val="0"/>
                        </a:spcAft>
                      </a:pPr>
                      <a:endParaRPr lang="ar-EG" sz="2000" b="1" kern="1200" dirty="0">
                        <a:solidFill>
                          <a:schemeClr val="tx1"/>
                        </a:solidFill>
                        <a:effectLst>
                          <a:outerShdw blurRad="38100" dist="38100" dir="2700000" algn="tl">
                            <a:srgbClr val="000000">
                              <a:alpha val="43137"/>
                            </a:srgbClr>
                          </a:outerShdw>
                        </a:effectLst>
                      </a:endParaRPr>
                    </a:p>
                    <a:p>
                      <a:pPr marL="0" marR="0" lvl="0" indent="0" algn="r" defTabSz="914400" rtl="1" eaLnBrk="1" fontAlgn="auto" latinLnBrk="0" hangingPunct="1">
                        <a:lnSpc>
                          <a:spcPct val="107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rPr>
                        <a:t>اشكرك على وقتك.</a:t>
                      </a:r>
                      <a:r>
                        <a:rPr lang="ar-EG" sz="2000" b="1" kern="1200" dirty="0">
                          <a:solidFill>
                            <a:schemeClr val="tx1"/>
                          </a:solidFill>
                          <a:effectLst>
                            <a:outerShdw blurRad="38100" dist="38100" dir="2700000" algn="tl">
                              <a:srgbClr val="000000">
                                <a:alpha val="43137"/>
                              </a:srgbClr>
                            </a:outerShdw>
                          </a:effectLst>
                        </a:rPr>
                        <a:t>..</a:t>
                      </a:r>
                      <a:r>
                        <a:rPr lang="ar-SA" sz="2000" b="1" kern="1200" dirty="0">
                          <a:solidFill>
                            <a:schemeClr val="tx1"/>
                          </a:solidFill>
                          <a:effectLst>
                            <a:outerShdw blurRad="38100" dist="38100" dir="2700000" algn="tl">
                              <a:srgbClr val="000000">
                                <a:alpha val="43137"/>
                              </a:srgbClr>
                            </a:outerShdw>
                          </a:effectLst>
                        </a:rPr>
                        <a:t> في امان الله</a:t>
                      </a:r>
                      <a:r>
                        <a:rPr lang="ar-EG" sz="2000" b="1" kern="1200" dirty="0">
                          <a:solidFill>
                            <a:schemeClr val="tx1"/>
                          </a:solidFill>
                          <a:effectLst>
                            <a:outerShdw blurRad="38100" dist="38100" dir="2700000" algn="tl">
                              <a:srgbClr val="000000">
                                <a:alpha val="43137"/>
                              </a:srgbClr>
                            </a:outerShdw>
                          </a:effectLst>
                        </a:rPr>
                        <a:t>... </a:t>
                      </a:r>
                    </a:p>
                    <a:p>
                      <a:pPr marL="0" marR="0" lvl="0" indent="0" algn="r" defTabSz="914400" rtl="1" eaLnBrk="1" fontAlgn="auto" latinLnBrk="0" hangingPunct="1">
                        <a:lnSpc>
                          <a:spcPct val="107000"/>
                        </a:lnSpc>
                        <a:spcBef>
                          <a:spcPts val="0"/>
                        </a:spcBef>
                        <a:spcAft>
                          <a:spcPts val="0"/>
                        </a:spcAft>
                        <a:buClrTx/>
                        <a:buSzTx/>
                        <a:buFontTx/>
                        <a:buNone/>
                        <a:tabLst/>
                        <a:defRPr/>
                      </a:pPr>
                      <a:endParaRPr lang="ar-EG" sz="2000" b="1" kern="1200" dirty="0">
                        <a:solidFill>
                          <a:schemeClr val="tx1"/>
                        </a:solidFill>
                        <a:effectLst>
                          <a:outerShdw blurRad="38100" dist="38100" dir="2700000" algn="tl">
                            <a:srgbClr val="000000">
                              <a:alpha val="43137"/>
                            </a:srgbClr>
                          </a:outerShdw>
                        </a:effectLst>
                      </a:endParaRPr>
                    </a:p>
                    <a:p>
                      <a:pPr marL="0" marR="0" algn="r" defTabSz="914400" rtl="1" eaLnBrk="1" latinLnBrk="0" hangingPunct="1">
                        <a:lnSpc>
                          <a:spcPct val="107000"/>
                        </a:lnSpc>
                        <a:spcBef>
                          <a:spcPts val="0"/>
                        </a:spcBef>
                        <a:spcAft>
                          <a:spcPts val="0"/>
                        </a:spcAft>
                      </a:pP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rPr>
                        <a:t>العميل</a:t>
                      </a:r>
                    </a:p>
                    <a:p>
                      <a:pPr algn="ctr"/>
                      <a:endParaRPr lang="ar-EG" sz="2000" b="1" kern="1200" spc="-300" dirty="0">
                        <a:solidFill>
                          <a:schemeClr val="tx1"/>
                        </a:solidFill>
                        <a:effectLst>
                          <a:outerShdw blurRad="38100" dist="38100" dir="2700000" algn="tl">
                            <a:srgbClr val="000000">
                              <a:alpha val="43137"/>
                            </a:srgbClr>
                          </a:outerShdw>
                        </a:effectLst>
                      </a:endParaRPr>
                    </a:p>
                    <a:p>
                      <a:pPr algn="ctr"/>
                      <a:r>
                        <a:rPr lang="ar-EG" sz="2000" b="1" kern="1200" dirty="0">
                          <a:solidFill>
                            <a:schemeClr val="tx1"/>
                          </a:solidFill>
                          <a:effectLst>
                            <a:outerShdw blurRad="38100" dist="38100" dir="2700000" algn="tl">
                              <a:srgbClr val="000000">
                                <a:alpha val="43137"/>
                              </a:srgbClr>
                            </a:outerShdw>
                          </a:effectLst>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346954136"/>
                  </a:ext>
                </a:extLst>
              </a:tr>
            </a:tbl>
          </a:graphicData>
        </a:graphic>
      </p:graphicFrame>
      <p:sp>
        <p:nvSpPr>
          <p:cNvPr id="12" name="Rectangle 11">
            <a:extLst>
              <a:ext uri="{FF2B5EF4-FFF2-40B4-BE49-F238E27FC236}">
                <a16:creationId xmlns:a16="http://schemas.microsoft.com/office/drawing/2014/main" id="{DA4212D0-F17A-47B7-9171-00B18718B8B6}"/>
              </a:ext>
            </a:extLst>
          </p:cNvPr>
          <p:cNvSpPr/>
          <p:nvPr/>
        </p:nvSpPr>
        <p:spPr>
          <a:xfrm>
            <a:off x="6898641" y="574757"/>
            <a:ext cx="5089044" cy="584775"/>
          </a:xfrm>
          <a:prstGeom prst="rect">
            <a:avLst/>
          </a:prstGeom>
        </p:spPr>
        <p:txBody>
          <a:bodyPr wrap="square">
            <a:spAutoFit/>
          </a:bodyPr>
          <a:lstStyle/>
          <a:p>
            <a:pPr algn="r"/>
            <a:r>
              <a:rPr lang="ar-SA"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نص مكالمة – </a:t>
            </a:r>
            <a:r>
              <a:rPr lang="ar-EG"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المكالمة الثانية</a:t>
            </a:r>
            <a:endParaRPr lang="en-US"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D66D6D23-91BF-4FF0-90FD-E870D2867D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5850" y="263708"/>
            <a:ext cx="1541483" cy="494509"/>
          </a:xfrm>
          <a:prstGeom prst="rect">
            <a:avLst/>
          </a:prstGeom>
        </p:spPr>
      </p:pic>
      <p:pic>
        <p:nvPicPr>
          <p:cNvPr id="6" name="Graphic 5">
            <a:extLst>
              <a:ext uri="{FF2B5EF4-FFF2-40B4-BE49-F238E27FC236}">
                <a16:creationId xmlns:a16="http://schemas.microsoft.com/office/drawing/2014/main" id="{B2348D28-F0FA-477D-A3E2-BFA6BB356617}"/>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5552" y="75050"/>
            <a:ext cx="1023679" cy="884875"/>
          </a:xfrm>
          <a:prstGeom prst="rect">
            <a:avLst/>
          </a:prstGeom>
        </p:spPr>
      </p:pic>
      <p:sp>
        <p:nvSpPr>
          <p:cNvPr id="7" name="Rectangle 6">
            <a:extLst>
              <a:ext uri="{FF2B5EF4-FFF2-40B4-BE49-F238E27FC236}">
                <a16:creationId xmlns:a16="http://schemas.microsoft.com/office/drawing/2014/main" id="{0E49FED6-973E-449A-80D9-84BE1DF40E63}"/>
              </a:ext>
            </a:extLst>
          </p:cNvPr>
          <p:cNvSpPr/>
          <p:nvPr/>
        </p:nvSpPr>
        <p:spPr>
          <a:xfrm>
            <a:off x="1929760" y="122007"/>
            <a:ext cx="45719" cy="777909"/>
          </a:xfrm>
          <a:prstGeom prst="rect">
            <a:avLst/>
          </a:prstGeom>
          <a:solidFill>
            <a:srgbClr val="008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3339291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2805771881"/>
              </p:ext>
            </p:extLst>
          </p:nvPr>
        </p:nvGraphicFramePr>
        <p:xfrm>
          <a:off x="204316" y="1321900"/>
          <a:ext cx="11776105" cy="5190027"/>
        </p:xfrm>
        <a:graphic>
          <a:graphicData uri="http://schemas.openxmlformats.org/drawingml/2006/table">
            <a:tbl>
              <a:tblPr bandRow="1">
                <a:tableStyleId>{C083E6E3-FA7D-4D7B-A595-EF9225AFEA82}</a:tableStyleId>
              </a:tblPr>
              <a:tblGrid>
                <a:gridCol w="10486473">
                  <a:extLst>
                    <a:ext uri="{9D8B030D-6E8A-4147-A177-3AD203B41FA5}">
                      <a16:colId xmlns:a16="http://schemas.microsoft.com/office/drawing/2014/main" val="3721312307"/>
                    </a:ext>
                  </a:extLst>
                </a:gridCol>
                <a:gridCol w="1289632">
                  <a:extLst>
                    <a:ext uri="{9D8B030D-6E8A-4147-A177-3AD203B41FA5}">
                      <a16:colId xmlns:a16="http://schemas.microsoft.com/office/drawing/2014/main" val="4197285037"/>
                    </a:ext>
                  </a:extLst>
                </a:gridCol>
              </a:tblGrid>
              <a:tr h="793430">
                <a:tc>
                  <a:txBody>
                    <a:bodyPr/>
                    <a:lstStyle/>
                    <a:p>
                      <a:pPr marL="0" marR="0" algn="r" defTabSz="914400" rtl="1"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السلام عليكم</a:t>
                      </a:r>
                      <a:r>
                        <a:rPr lang="ar-EG" sz="2000" b="1" kern="1200" baseline="0" dirty="0">
                          <a:solidFill>
                            <a:schemeClr val="tx1"/>
                          </a:solidFill>
                          <a:effectLst>
                            <a:outerShdw blurRad="38100" dist="38100" dir="2700000" algn="tl">
                              <a:srgbClr val="000000">
                                <a:alpha val="43137"/>
                              </a:srgbClr>
                            </a:outerShdw>
                          </a:effectLst>
                        </a:rPr>
                        <a:t> </a:t>
                      </a:r>
                      <a:r>
                        <a:rPr lang="ar-SA" sz="2000" b="1" kern="1200" dirty="0">
                          <a:solidFill>
                            <a:schemeClr val="tx1"/>
                          </a:solidFill>
                          <a:effectLst>
                            <a:outerShdw blurRad="38100" dist="38100" dir="2700000" algn="tl">
                              <a:srgbClr val="000000">
                                <a:alpha val="43137"/>
                              </a:srgbClr>
                            </a:outerShdw>
                          </a:effectLst>
                        </a:rPr>
                        <a:t>، ( </a:t>
                      </a:r>
                      <a:r>
                        <a:rPr lang="ar-EG" sz="2000" b="1" kern="1200" dirty="0">
                          <a:solidFill>
                            <a:schemeClr val="tx1"/>
                          </a:solidFill>
                          <a:effectLst>
                            <a:outerShdw blurRad="38100" dist="38100" dir="2700000" algn="tl">
                              <a:srgbClr val="000000">
                                <a:alpha val="43137"/>
                              </a:srgbClr>
                            </a:outerShdw>
                          </a:effectLst>
                        </a:rPr>
                        <a:t>مساك الله بالخير / صبحك الله بالخير</a:t>
                      </a:r>
                      <a:r>
                        <a:rPr lang="ar-SA" sz="2000" b="1" kern="1200" dirty="0">
                          <a:solidFill>
                            <a:schemeClr val="tx1"/>
                          </a:solidFill>
                          <a:effectLst>
                            <a:outerShdw blurRad="38100" dist="38100" dir="2700000" algn="tl">
                              <a:srgbClr val="000000">
                                <a:alpha val="43137"/>
                              </a:srgbClr>
                            </a:outerShdw>
                          </a:effectLst>
                        </a:rPr>
                        <a:t>) </a:t>
                      </a:r>
                      <a:r>
                        <a:rPr lang="ar-EG" sz="2000" b="1" kern="1200" dirty="0">
                          <a:solidFill>
                            <a:schemeClr val="tx1"/>
                          </a:solidFill>
                          <a:effectLst>
                            <a:outerShdw blurRad="38100" dist="38100" dir="2700000" algn="tl">
                              <a:srgbClr val="000000">
                                <a:alpha val="43137"/>
                              </a:srgbClr>
                            </a:outerShdw>
                          </a:effectLst>
                        </a:rPr>
                        <a:t>(مع ذكر اسم العميل )،</a:t>
                      </a:r>
                      <a:r>
                        <a:rPr lang="ar-EG" sz="2000" b="1" kern="1200" baseline="0" dirty="0">
                          <a:solidFill>
                            <a:schemeClr val="tx1"/>
                          </a:solidFill>
                          <a:effectLst>
                            <a:outerShdw blurRad="38100" dist="38100" dir="2700000" algn="tl">
                              <a:srgbClr val="000000">
                                <a:alpha val="43137"/>
                              </a:srgbClr>
                            </a:outerShdw>
                          </a:effectLst>
                        </a:rPr>
                        <a:t> </a:t>
                      </a:r>
                      <a:r>
                        <a:rPr lang="ar-SA" sz="2000" b="1" kern="1200" dirty="0">
                          <a:solidFill>
                            <a:schemeClr val="tx1"/>
                          </a:solidFill>
                          <a:effectLst>
                            <a:outerShdw blurRad="38100" dist="38100" dir="2700000" algn="tl">
                              <a:srgbClr val="000000">
                                <a:alpha val="43137"/>
                              </a:srgbClr>
                            </a:outerShdw>
                          </a:effectLst>
                        </a:rPr>
                        <a:t>معك (أسم الموظف) من </a:t>
                      </a:r>
                      <a:r>
                        <a:rPr lang="ar-EG" sz="2000" b="1" kern="1200" dirty="0">
                          <a:solidFill>
                            <a:schemeClr val="tx1"/>
                          </a:solidFill>
                          <a:effectLst>
                            <a:outerShdw blurRad="38100" dist="38100" dir="2700000" algn="tl">
                              <a:srgbClr val="000000">
                                <a:alpha val="43137"/>
                              </a:srgbClr>
                            </a:outerShdw>
                          </a:effectLst>
                        </a:rPr>
                        <a:t>ال</a:t>
                      </a:r>
                      <a:r>
                        <a:rPr lang="ar-SA" sz="2000" b="1" kern="1200" dirty="0">
                          <a:solidFill>
                            <a:schemeClr val="tx1"/>
                          </a:solidFill>
                          <a:effectLst>
                            <a:outerShdw blurRad="38100" dist="38100" dir="2700000" algn="tl">
                              <a:srgbClr val="000000">
                                <a:alpha val="43137"/>
                              </a:srgbClr>
                            </a:outerShdw>
                          </a:effectLst>
                        </a:rPr>
                        <a:t>شركة السعودية </a:t>
                      </a:r>
                      <a:r>
                        <a:rPr lang="ar-EG" sz="2000" b="1" kern="1200" dirty="0">
                          <a:solidFill>
                            <a:schemeClr val="tx1"/>
                          </a:solidFill>
                          <a:effectLst>
                            <a:outerShdw blurRad="38100" dist="38100" dir="2700000" algn="tl">
                              <a:srgbClr val="000000">
                                <a:alpha val="43137"/>
                              </a:srgbClr>
                            </a:outerShdw>
                          </a:effectLst>
                          <a:latin typeface="Arial (Body)"/>
                          <a:cs typeface="+mn-cs"/>
                        </a:rPr>
                        <a:t>للطاقة</a:t>
                      </a:r>
                      <a:r>
                        <a:rPr lang="ar-EG" sz="2000" b="1" kern="1200" baseline="0" dirty="0">
                          <a:solidFill>
                            <a:schemeClr val="tx1"/>
                          </a:solidFill>
                          <a:effectLst>
                            <a:outerShdw blurRad="38100" dist="38100" dir="2700000" algn="tl">
                              <a:srgbClr val="000000">
                                <a:alpha val="43137"/>
                              </a:srgbClr>
                            </a:outerShdw>
                          </a:effectLst>
                        </a:rPr>
                        <a:t> </a:t>
                      </a:r>
                      <a:r>
                        <a:rPr lang="ar-SA" sz="2000" b="1" kern="1200" dirty="0">
                          <a:solidFill>
                            <a:schemeClr val="tx1"/>
                          </a:solidFill>
                          <a:effectLst>
                            <a:outerShdw blurRad="38100" dist="38100" dir="2700000" algn="tl">
                              <a:srgbClr val="000000">
                                <a:alpha val="43137"/>
                              </a:srgbClr>
                            </a:outerShdw>
                          </a:effectLst>
                        </a:rPr>
                        <a:t>؟</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marL="0" marR="0" algn="ctr" rtl="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rPr>
                        <a:t>الموظف</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extLst>
                  <a:ext uri="{0D108BD9-81ED-4DB2-BD59-A6C34878D82A}">
                    <a16:rowId xmlns:a16="http://schemas.microsoft.com/office/drawing/2014/main" val="4114411676"/>
                  </a:ext>
                </a:extLst>
              </a:tr>
              <a:tr h="422729">
                <a:tc>
                  <a:txBody>
                    <a:bodyPr/>
                    <a:lstStyle/>
                    <a:p>
                      <a:pPr algn="r"/>
                      <a:r>
                        <a:rPr lang="ar-SA" sz="2000" b="1" kern="1200" dirty="0">
                          <a:solidFill>
                            <a:schemeClr val="tx1"/>
                          </a:solidFill>
                          <a:effectLst>
                            <a:outerShdw blurRad="38100" dist="38100" dir="2700000" algn="tl">
                              <a:srgbClr val="000000">
                                <a:alpha val="43137"/>
                              </a:srgbClr>
                            </a:outerShdw>
                          </a:effectLst>
                        </a:rPr>
                        <a:t>وعليكم السلام ورحمة الله وبركاته. نعم</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algn="ctr"/>
                      <a:r>
                        <a:rPr lang="ar-EG" sz="2000" b="1" kern="1200" dirty="0">
                          <a:solidFill>
                            <a:schemeClr val="tx1"/>
                          </a:solidFill>
                          <a:effectLst>
                            <a:outerShdw blurRad="38100" dist="38100" dir="2700000" algn="tl">
                              <a:srgbClr val="000000">
                                <a:alpha val="43137"/>
                              </a:srgbClr>
                            </a:outerShdw>
                          </a:effectLst>
                        </a:rPr>
                        <a:t>العميل</a:t>
                      </a: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extLst>
                  <a:ext uri="{0D108BD9-81ED-4DB2-BD59-A6C34878D82A}">
                    <a16:rowId xmlns:a16="http://schemas.microsoft.com/office/drawing/2014/main" val="859014750"/>
                  </a:ext>
                </a:extLst>
              </a:tr>
              <a:tr h="422729">
                <a:tc>
                  <a:txBody>
                    <a:bodyPr/>
                    <a:lstStyle/>
                    <a:p>
                      <a:pPr marL="0" marR="0" algn="r" defTabSz="914400" rtl="0" eaLnBrk="1" latinLnBrk="0" hangingPunct="1">
                        <a:lnSpc>
                          <a:spcPct val="107000"/>
                        </a:lnSpc>
                        <a:spcBef>
                          <a:spcPts val="0"/>
                        </a:spcBef>
                        <a:spcAft>
                          <a:spcPts val="0"/>
                        </a:spcAft>
                      </a:pPr>
                      <a:r>
                        <a:rPr lang="ar-SA" sz="2000" b="1" dirty="0">
                          <a:solidFill>
                            <a:schemeClr val="tx1"/>
                          </a:solidFill>
                          <a:effectLst/>
                        </a:rPr>
                        <a:t> </a:t>
                      </a:r>
                      <a:r>
                        <a:rPr lang="ar-SA" sz="2000" b="1" kern="1200" dirty="0">
                          <a:solidFill>
                            <a:schemeClr val="tx1"/>
                          </a:solidFill>
                          <a:effectLst>
                            <a:outerShdw blurRad="38100" dist="38100" dir="2700000" algn="tl">
                              <a:srgbClr val="000000">
                                <a:alpha val="43137"/>
                              </a:srgbClr>
                            </a:outerShdw>
                          </a:effectLst>
                        </a:rPr>
                        <a:t>أستاذي </a:t>
                      </a:r>
                      <a:r>
                        <a:rPr lang="ar-EG" sz="2000" b="1" kern="1200" dirty="0">
                          <a:solidFill>
                            <a:schemeClr val="tx1"/>
                          </a:solidFill>
                          <a:effectLst>
                            <a:outerShdw blurRad="38100" dist="38100" dir="2700000" algn="tl">
                              <a:srgbClr val="000000">
                                <a:alpha val="43137"/>
                              </a:srgbClr>
                            </a:outerShdw>
                          </a:effectLst>
                        </a:rPr>
                        <a:t>اذا ما عليك امر</a:t>
                      </a:r>
                      <a:r>
                        <a:rPr lang="ar-SA" sz="2000" b="1" kern="1200" dirty="0">
                          <a:solidFill>
                            <a:schemeClr val="tx1"/>
                          </a:solidFill>
                          <a:effectLst>
                            <a:outerShdw blurRad="38100" dist="38100" dir="2700000" algn="tl">
                              <a:srgbClr val="000000">
                                <a:alpha val="43137"/>
                              </a:srgbClr>
                            </a:outerShdw>
                          </a:effectLst>
                        </a:rPr>
                        <a:t>.</a:t>
                      </a:r>
                      <a:r>
                        <a:rPr lang="ar-EG" sz="2000" b="1" kern="1200" dirty="0">
                          <a:solidFill>
                            <a:schemeClr val="tx1"/>
                          </a:solidFill>
                          <a:effectLst>
                            <a:outerShdw blurRad="38100" dist="38100" dir="2700000" algn="tl">
                              <a:srgbClr val="000000">
                                <a:alpha val="43137"/>
                              </a:srgbClr>
                            </a:outerShdw>
                          </a:effectLst>
                        </a:rPr>
                        <a:t>  سبق ان تم التواصل معك . بخصوص فاتورة كهرباء . تم تزويدكم ببيانات الفاتوة  وش صار  بخصوص السداد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11762761"/>
                  </a:ext>
                </a:extLst>
              </a:tr>
              <a:tr h="422729">
                <a:tc>
                  <a:txBody>
                    <a:bodyPr/>
                    <a:lstStyle/>
                    <a:p>
                      <a:pPr marL="0" marR="0" algn="r" rtl="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rPr>
                        <a:t>هذا العداد يخص المستاجر . وان شاء الله وعدني بيسدد علي نهاية الشهر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799017468"/>
                  </a:ext>
                </a:extLst>
              </a:tr>
              <a:tr h="422729">
                <a:tc>
                  <a:txBody>
                    <a:bodyPr/>
                    <a:lstStyle/>
                    <a:p>
                      <a:pPr algn="r"/>
                      <a:r>
                        <a:rPr lang="ar-EG" sz="2000" b="1" kern="1200" dirty="0">
                          <a:solidFill>
                            <a:schemeClr val="tx1"/>
                          </a:solidFill>
                          <a:effectLst>
                            <a:outerShdw blurRad="38100" dist="38100" dir="2700000" algn="tl">
                              <a:srgbClr val="000000">
                                <a:alpha val="43137"/>
                              </a:srgbClr>
                            </a:outerShdw>
                          </a:effectLst>
                        </a:rPr>
                        <a:t>تمام ياغالي . سيتم التواصل معك قبل نهاية الشهر للتذكير  فقط .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476988691"/>
                  </a:ext>
                </a:extLst>
              </a:tr>
              <a:tr h="422729">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rPr>
                        <a:t>ابشر ان شاء الله ما عليك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rPr>
                        <a:t>العميل </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811835654"/>
                  </a:ext>
                </a:extLst>
              </a:tr>
              <a:tr h="422729">
                <a:tc>
                  <a:txBody>
                    <a:bodyPr/>
                    <a:lstStyle/>
                    <a:p>
                      <a:pPr marL="0" marR="0" algn="r" rtl="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rPr>
                        <a:t>يعطيك العافية ياغالي في انتظار  سدادك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EG" sz="2000" b="1" kern="1200" dirty="0">
                          <a:solidFill>
                            <a:schemeClr val="tx1"/>
                          </a:solidFill>
                          <a:effectLst>
                            <a:outerShdw blurRad="38100" dist="38100" dir="2700000" algn="tl">
                              <a:srgbClr val="000000">
                                <a:alpha val="43137"/>
                              </a:srgbClr>
                            </a:outerShdw>
                          </a:effectLst>
                        </a:rPr>
                        <a:t>الموظف </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079614071"/>
                  </a:ext>
                </a:extLst>
              </a:tr>
              <a:tr h="422729">
                <a:tc>
                  <a:txBody>
                    <a:bodyPr/>
                    <a:lstStyle/>
                    <a:p>
                      <a:pPr marL="0" marR="0" algn="r" defTabSz="914400" rtl="1"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rPr>
                        <a:t>الله يعافيك باذن الله .</a:t>
                      </a:r>
                    </a:p>
                    <a:p>
                      <a:pPr marL="0" marR="0" algn="r" defTabSz="914400" rtl="1" eaLnBrk="1" latinLnBrk="0" hangingPunct="1">
                        <a:lnSpc>
                          <a:spcPct val="107000"/>
                        </a:lnSpc>
                        <a:spcBef>
                          <a:spcPts val="0"/>
                        </a:spcBef>
                        <a:spcAft>
                          <a:spcPts val="0"/>
                        </a:spcAft>
                      </a:pPr>
                      <a:endParaRPr lang="ar-EG" sz="2000" b="1" kern="1200" dirty="0">
                        <a:solidFill>
                          <a:schemeClr val="tx1"/>
                        </a:solidFill>
                        <a:effectLst>
                          <a:outerShdw blurRad="38100" dist="38100" dir="2700000" algn="tl">
                            <a:srgbClr val="000000">
                              <a:alpha val="43137"/>
                            </a:srgbClr>
                          </a:outerShdw>
                        </a:effectLst>
                      </a:endParaRPr>
                    </a:p>
                    <a:p>
                      <a:pPr marL="0" marR="0" lvl="0" indent="0" algn="r" defTabSz="914400" rtl="1" eaLnBrk="1" fontAlgn="auto" latinLnBrk="0" hangingPunct="1">
                        <a:lnSpc>
                          <a:spcPct val="107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rPr>
                        <a:t>اشكرك على وقتك.</a:t>
                      </a:r>
                      <a:r>
                        <a:rPr lang="ar-EG" sz="2000" b="1" kern="1200" dirty="0">
                          <a:solidFill>
                            <a:schemeClr val="tx1"/>
                          </a:solidFill>
                          <a:effectLst>
                            <a:outerShdw blurRad="38100" dist="38100" dir="2700000" algn="tl">
                              <a:srgbClr val="000000">
                                <a:alpha val="43137"/>
                              </a:srgbClr>
                            </a:outerShdw>
                          </a:effectLst>
                        </a:rPr>
                        <a:t>..</a:t>
                      </a:r>
                      <a:r>
                        <a:rPr lang="ar-SA" sz="2000" b="1" kern="1200" dirty="0">
                          <a:solidFill>
                            <a:schemeClr val="tx1"/>
                          </a:solidFill>
                          <a:effectLst>
                            <a:outerShdw blurRad="38100" dist="38100" dir="2700000" algn="tl">
                              <a:srgbClr val="000000">
                                <a:alpha val="43137"/>
                              </a:srgbClr>
                            </a:outerShdw>
                          </a:effectLst>
                        </a:rPr>
                        <a:t> في امان الله</a:t>
                      </a:r>
                      <a:r>
                        <a:rPr lang="ar-EG" sz="2000" b="1" kern="1200" dirty="0">
                          <a:solidFill>
                            <a:schemeClr val="tx1"/>
                          </a:solidFill>
                          <a:effectLst>
                            <a:outerShdw blurRad="38100" dist="38100" dir="2700000" algn="tl">
                              <a:srgbClr val="000000">
                                <a:alpha val="43137"/>
                              </a:srgbClr>
                            </a:outerShdw>
                          </a:effectLst>
                        </a:rPr>
                        <a:t>... </a:t>
                      </a:r>
                    </a:p>
                    <a:p>
                      <a:pPr marL="0" marR="0" lvl="0" indent="0" algn="r" defTabSz="914400" rtl="1" eaLnBrk="1" fontAlgn="auto" latinLnBrk="0" hangingPunct="1">
                        <a:lnSpc>
                          <a:spcPct val="107000"/>
                        </a:lnSpc>
                        <a:spcBef>
                          <a:spcPts val="0"/>
                        </a:spcBef>
                        <a:spcAft>
                          <a:spcPts val="0"/>
                        </a:spcAft>
                        <a:buClrTx/>
                        <a:buSzTx/>
                        <a:buFontTx/>
                        <a:buNone/>
                        <a:tabLst/>
                        <a:defRPr/>
                      </a:pPr>
                      <a:endParaRPr lang="ar-EG" sz="2000" b="1" kern="1200" dirty="0">
                        <a:solidFill>
                          <a:schemeClr val="tx1"/>
                        </a:solidFill>
                        <a:effectLst>
                          <a:outerShdw blurRad="38100" dist="38100" dir="2700000" algn="tl">
                            <a:srgbClr val="000000">
                              <a:alpha val="43137"/>
                            </a:srgbClr>
                          </a:outerShdw>
                        </a:effectLst>
                      </a:endParaRPr>
                    </a:p>
                    <a:p>
                      <a:pPr marL="0" marR="0" algn="r" defTabSz="914400" rtl="1" eaLnBrk="1" latinLnBrk="0" hangingPunct="1">
                        <a:lnSpc>
                          <a:spcPct val="107000"/>
                        </a:lnSpc>
                        <a:spcBef>
                          <a:spcPts val="0"/>
                        </a:spcBef>
                        <a:spcAft>
                          <a:spcPts val="0"/>
                        </a:spcAft>
                      </a:pP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rPr>
                        <a:t>العميل</a:t>
                      </a:r>
                    </a:p>
                    <a:p>
                      <a:pPr algn="ctr"/>
                      <a:endParaRPr lang="ar-EG" sz="2000" b="1" kern="1200" dirty="0">
                        <a:solidFill>
                          <a:schemeClr val="tx1"/>
                        </a:solidFill>
                        <a:effectLst>
                          <a:outerShdw blurRad="38100" dist="38100" dir="2700000" algn="tl">
                            <a:srgbClr val="000000">
                              <a:alpha val="43137"/>
                            </a:srgbClr>
                          </a:outerShdw>
                        </a:effectLst>
                      </a:endParaRPr>
                    </a:p>
                    <a:p>
                      <a:pPr algn="ctr"/>
                      <a:r>
                        <a:rPr lang="ar-EG" sz="2000" b="1" kern="1200" dirty="0">
                          <a:solidFill>
                            <a:schemeClr val="tx1"/>
                          </a:solidFill>
                          <a:effectLst>
                            <a:outerShdw blurRad="38100" dist="38100" dir="2700000" algn="tl">
                              <a:srgbClr val="000000">
                                <a:alpha val="43137"/>
                              </a:srgbClr>
                            </a:outerShdw>
                          </a:effectLst>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346954136"/>
                  </a:ext>
                </a:extLst>
              </a:tr>
            </a:tbl>
          </a:graphicData>
        </a:graphic>
      </p:graphicFrame>
      <p:sp>
        <p:nvSpPr>
          <p:cNvPr id="5" name="Rectangle 4">
            <a:extLst>
              <a:ext uri="{FF2B5EF4-FFF2-40B4-BE49-F238E27FC236}">
                <a16:creationId xmlns:a16="http://schemas.microsoft.com/office/drawing/2014/main" id="{F5147054-5F87-4BA9-B08C-AAE39E8BB225}"/>
              </a:ext>
            </a:extLst>
          </p:cNvPr>
          <p:cNvSpPr/>
          <p:nvPr/>
        </p:nvSpPr>
        <p:spPr>
          <a:xfrm>
            <a:off x="6700520" y="614739"/>
            <a:ext cx="5330148" cy="584775"/>
          </a:xfrm>
          <a:prstGeom prst="rect">
            <a:avLst/>
          </a:prstGeom>
        </p:spPr>
        <p:txBody>
          <a:bodyPr wrap="square">
            <a:spAutoFit/>
          </a:bodyPr>
          <a:lstStyle/>
          <a:p>
            <a:pPr algn="r"/>
            <a:r>
              <a:rPr lang="ar-SA"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نص مكالمة – </a:t>
            </a:r>
            <a:r>
              <a:rPr lang="ar-EG"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المكالمة الثالثة</a:t>
            </a:r>
            <a:endParaRPr lang="en-US"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p:txBody>
      </p:sp>
      <p:pic>
        <p:nvPicPr>
          <p:cNvPr id="6" name="Picture 5">
            <a:extLst>
              <a:ext uri="{FF2B5EF4-FFF2-40B4-BE49-F238E27FC236}">
                <a16:creationId xmlns:a16="http://schemas.microsoft.com/office/drawing/2014/main" id="{BC47644F-F861-4A4D-904F-A005F92C52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5850" y="263708"/>
            <a:ext cx="1541483" cy="494509"/>
          </a:xfrm>
          <a:prstGeom prst="rect">
            <a:avLst/>
          </a:prstGeom>
        </p:spPr>
      </p:pic>
      <p:pic>
        <p:nvPicPr>
          <p:cNvPr id="8" name="Graphic 7">
            <a:extLst>
              <a:ext uri="{FF2B5EF4-FFF2-40B4-BE49-F238E27FC236}">
                <a16:creationId xmlns:a16="http://schemas.microsoft.com/office/drawing/2014/main" id="{0EC42439-ADD7-4DC6-901A-0276B0F1DDD5}"/>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5552" y="75050"/>
            <a:ext cx="1023679" cy="884875"/>
          </a:xfrm>
          <a:prstGeom prst="rect">
            <a:avLst/>
          </a:prstGeom>
        </p:spPr>
      </p:pic>
      <p:sp>
        <p:nvSpPr>
          <p:cNvPr id="9" name="Rectangle 8">
            <a:extLst>
              <a:ext uri="{FF2B5EF4-FFF2-40B4-BE49-F238E27FC236}">
                <a16:creationId xmlns:a16="http://schemas.microsoft.com/office/drawing/2014/main" id="{19D71751-4A17-4AE8-8DB9-1FF0AC251CAD}"/>
              </a:ext>
            </a:extLst>
          </p:cNvPr>
          <p:cNvSpPr/>
          <p:nvPr/>
        </p:nvSpPr>
        <p:spPr>
          <a:xfrm>
            <a:off x="1929760" y="122007"/>
            <a:ext cx="45719" cy="777909"/>
          </a:xfrm>
          <a:prstGeom prst="rect">
            <a:avLst/>
          </a:prstGeom>
          <a:solidFill>
            <a:srgbClr val="008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3104209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p:cNvGraphicFramePr>
            <a:graphicFrameLocks noGrp="1"/>
          </p:cNvGraphicFramePr>
          <p:nvPr>
            <p:extLst>
              <p:ext uri="{D42A27DB-BD31-4B8C-83A1-F6EECF244321}">
                <p14:modId xmlns:p14="http://schemas.microsoft.com/office/powerpoint/2010/main" val="3144805526"/>
              </p:ext>
            </p:extLst>
          </p:nvPr>
        </p:nvGraphicFramePr>
        <p:xfrm>
          <a:off x="0" y="1148857"/>
          <a:ext cx="12192000" cy="5021208"/>
        </p:xfrm>
        <a:graphic>
          <a:graphicData uri="http://schemas.openxmlformats.org/drawingml/2006/table">
            <a:tbl>
              <a:tblPr bandRow="1">
                <a:tableStyleId>{C083E6E3-FA7D-4D7B-A595-EF9225AFEA82}</a:tableStyleId>
              </a:tblPr>
              <a:tblGrid>
                <a:gridCol w="10203500">
                  <a:extLst>
                    <a:ext uri="{9D8B030D-6E8A-4147-A177-3AD203B41FA5}">
                      <a16:colId xmlns:a16="http://schemas.microsoft.com/office/drawing/2014/main" val="3721312307"/>
                    </a:ext>
                  </a:extLst>
                </a:gridCol>
                <a:gridCol w="1988500">
                  <a:extLst>
                    <a:ext uri="{9D8B030D-6E8A-4147-A177-3AD203B41FA5}">
                      <a16:colId xmlns:a16="http://schemas.microsoft.com/office/drawing/2014/main" val="4197285037"/>
                    </a:ext>
                  </a:extLst>
                </a:gridCol>
              </a:tblGrid>
              <a:tr h="844970">
                <a:tc>
                  <a:txBody>
                    <a:bodyPr/>
                    <a:lstStyle/>
                    <a:p>
                      <a:pPr marL="0" marR="0" algn="r" defTabSz="914400" rtl="1" eaLnBrk="1" latinLnBrk="0" hangingPunct="1">
                        <a:lnSpc>
                          <a:spcPct val="107000"/>
                        </a:lnSpc>
                        <a:spcBef>
                          <a:spcPts val="0"/>
                        </a:spcBef>
                        <a:spcAft>
                          <a:spcPts val="0"/>
                        </a:spcAft>
                      </a:pP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a:p>
                      <a:pPr marL="0" marR="0" algn="r" defTabSz="914400" rtl="1"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السلام عليكم</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معى</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الأستاذ (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اسم العميل كامل</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معك (أسم الموظف)</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من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شركة السعودية لل</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طاقه</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marL="0" marR="0" algn="ctr" rtl="1">
                        <a:lnSpc>
                          <a:spcPct val="107000"/>
                        </a:lnSpc>
                        <a:spcBef>
                          <a:spcPts val="0"/>
                        </a:spcBef>
                        <a:spcAft>
                          <a:spcPts val="0"/>
                        </a:spcAft>
                      </a:pP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a:p>
                      <a:pPr marL="0" marR="0" algn="ctr" rtl="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extLst>
                  <a:ext uri="{0D108BD9-81ED-4DB2-BD59-A6C34878D82A}">
                    <a16:rowId xmlns:a16="http://schemas.microsoft.com/office/drawing/2014/main" val="4114411676"/>
                  </a:ext>
                </a:extLst>
              </a:tr>
              <a:tr h="483017">
                <a:tc>
                  <a:txBody>
                    <a:bodyPr/>
                    <a:lstStyle/>
                    <a:p>
                      <a:pPr algn="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لا</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extLst>
                  <a:ext uri="{0D108BD9-81ED-4DB2-BD59-A6C34878D82A}">
                    <a16:rowId xmlns:a16="http://schemas.microsoft.com/office/drawing/2014/main" val="859014750"/>
                  </a:ext>
                </a:extLst>
              </a:tr>
              <a:tr h="483017">
                <a:tc>
                  <a:txBody>
                    <a:bodyPr/>
                    <a:lstStyle/>
                    <a:p>
                      <a:pPr marL="0" marR="0" algn="r" defTabSz="914400" rtl="0" eaLnBrk="1" latinLnBrk="0" hangingPunct="1">
                        <a:lnSpc>
                          <a:spcPct val="107000"/>
                        </a:lnSpc>
                        <a:spcBef>
                          <a:spcPts val="0"/>
                        </a:spcBef>
                        <a:spcAft>
                          <a:spcPts val="0"/>
                        </a:spcAft>
                      </a:pPr>
                      <a:r>
                        <a:rPr lang="ar-SA" sz="2000" b="1" dirty="0">
                          <a:solidFill>
                            <a:schemeClr val="tx1"/>
                          </a:solidFill>
                          <a:effectLst/>
                          <a:latin typeface="Sakkal Majalla" panose="02000000000000000000" pitchFamily="2" charset="-78"/>
                          <a:cs typeface="Sakkal Majalla" panose="02000000000000000000" pitchFamily="2" charset="-78"/>
                        </a:rPr>
                        <a:t>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اعتذر على ازعاجك.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استاذى</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هل تعرف الأستاذ (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086173451"/>
                  </a:ext>
                </a:extLst>
              </a:tr>
              <a:tr h="795119">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فى</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حالة اوضح العميل (نعم</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a:t>
                      </a:r>
                    </a:p>
                  </a:txBody>
                  <a:tcPr marL="68580" marR="68580" marT="0" marB="0" anchor="ctr"/>
                </a:tc>
                <a:tc>
                  <a:txBody>
                    <a:bodyPr/>
                    <a:lstStyle/>
                    <a:p>
                      <a:pPr algn="ct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406570698"/>
                  </a:ext>
                </a:extLst>
              </a:tr>
              <a:tr h="483017">
                <a:tc>
                  <a:txBody>
                    <a:bodyPr/>
                    <a:lstStyle/>
                    <a:p>
                      <a:pPr marL="0" marR="0" algn="r" defTabSz="914400" rtl="0" eaLnBrk="1" latinLnBrk="0" hangingPunct="1">
                        <a:lnSpc>
                          <a:spcPct val="107000"/>
                        </a:lnSpc>
                        <a:spcBef>
                          <a:spcPts val="0"/>
                        </a:spcBef>
                        <a:spcAft>
                          <a:spcPts val="0"/>
                        </a:spcAft>
                      </a:pPr>
                      <a:r>
                        <a:rPr lang="ar-SA" sz="2000" b="1" dirty="0">
                          <a:solidFill>
                            <a:schemeClr val="tx1"/>
                          </a:solidFill>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ممكن تزودنا بالرقم</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11762761"/>
                  </a:ext>
                </a:extLst>
              </a:tr>
              <a:tr h="483017">
                <a:tc>
                  <a:txBody>
                    <a:bodyPr/>
                    <a:lstStyle/>
                    <a:p>
                      <a:pPr marL="0" marR="0" algn="r" defTabSz="914400" rtl="0" eaLnBrk="1" latinLnBrk="0" hangingPunct="1">
                        <a:lnSpc>
                          <a:spcPct val="107000"/>
                        </a:lnSpc>
                        <a:spcBef>
                          <a:spcPts val="0"/>
                        </a:spcBef>
                        <a:spcAft>
                          <a:spcPts val="0"/>
                        </a:spcAft>
                      </a:pP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rPr>
                        <a:t>فى حالة اوضح العميل (لا)  </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لانه جوالك مسجل على النظام و مرتبط بالحساب رقم (       )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EG" sz="2000" b="1" dirty="0">
                          <a:solidFill>
                            <a:schemeClr val="tx1"/>
                          </a:solidFill>
                          <a:latin typeface="Sakkal Majalla" panose="02000000000000000000" pitchFamily="2" charset="-78"/>
                          <a:cs typeface="Sakkal Majalla" panose="02000000000000000000" pitchFamily="2" charset="-78"/>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39034144"/>
                  </a:ext>
                </a:extLst>
              </a:tr>
              <a:tr h="483017">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rPr>
                        <a:t>شكرا على تعاونك. ونعتذر على الإزعاج. فى</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rPr>
                        <a:t> أمان الله.</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EG" sz="2000" b="1" dirty="0">
                          <a:solidFill>
                            <a:schemeClr val="tx1"/>
                          </a:solidFill>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726600300"/>
                  </a:ext>
                </a:extLst>
              </a:tr>
              <a:tr h="483017">
                <a:tc>
                  <a:txBody>
                    <a:bodyPr/>
                    <a:lstStyle/>
                    <a:p>
                      <a:pPr marL="0" marR="0" algn="r" defTabSz="914400" rtl="0" eaLnBrk="1" latinLnBrk="0" hangingPunct="1">
                        <a:lnSpc>
                          <a:spcPct val="107000"/>
                        </a:lnSpc>
                        <a:spcBef>
                          <a:spcPts val="0"/>
                        </a:spcBef>
                        <a:spcAft>
                          <a:spcPts val="0"/>
                        </a:spcAft>
                      </a:pP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792448790"/>
                  </a:ext>
                </a:extLst>
              </a:tr>
              <a:tr h="483017">
                <a:tc>
                  <a:txBody>
                    <a:bodyPr/>
                    <a:lstStyle/>
                    <a:p>
                      <a:pPr marL="0" marR="0" algn="r" defTabSz="914400" rtl="0" eaLnBrk="1" latinLnBrk="0" hangingPunct="1">
                        <a:lnSpc>
                          <a:spcPct val="107000"/>
                        </a:lnSpc>
                        <a:spcBef>
                          <a:spcPts val="0"/>
                        </a:spcBef>
                        <a:spcAft>
                          <a:spcPts val="0"/>
                        </a:spcAft>
                      </a:pP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69078453"/>
                  </a:ext>
                </a:extLst>
              </a:tr>
            </a:tbl>
          </a:graphicData>
        </a:graphic>
      </p:graphicFrame>
      <p:sp>
        <p:nvSpPr>
          <p:cNvPr id="10" name="Rectangle 9"/>
          <p:cNvSpPr/>
          <p:nvPr/>
        </p:nvSpPr>
        <p:spPr>
          <a:xfrm>
            <a:off x="5557520" y="263708"/>
            <a:ext cx="6479316" cy="584775"/>
          </a:xfrm>
          <a:prstGeom prst="rect">
            <a:avLst/>
          </a:prstGeom>
        </p:spPr>
        <p:txBody>
          <a:bodyPr wrap="square">
            <a:spAutoFit/>
          </a:bodyPr>
          <a:lstStyle/>
          <a:p>
            <a:pPr algn="r"/>
            <a:r>
              <a:rPr lang="ar-SA" sz="3200" b="1"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(2) نص المكالمة – </a:t>
            </a:r>
            <a:r>
              <a:rPr lang="ar-SA"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في حالة ان الرقم خطأ</a:t>
            </a:r>
            <a:endParaRPr lang="en-US"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154C5A97-7EBD-4D7F-8BE4-BD0566F1C6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5850" y="263708"/>
            <a:ext cx="1541483" cy="494509"/>
          </a:xfrm>
          <a:prstGeom prst="rect">
            <a:avLst/>
          </a:prstGeom>
        </p:spPr>
      </p:pic>
      <p:pic>
        <p:nvPicPr>
          <p:cNvPr id="6" name="Graphic 5">
            <a:extLst>
              <a:ext uri="{FF2B5EF4-FFF2-40B4-BE49-F238E27FC236}">
                <a16:creationId xmlns:a16="http://schemas.microsoft.com/office/drawing/2014/main" id="{3E960C98-8E40-4F9B-AC64-AE405BC369CD}"/>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5552" y="75050"/>
            <a:ext cx="1023679" cy="884875"/>
          </a:xfrm>
          <a:prstGeom prst="rect">
            <a:avLst/>
          </a:prstGeom>
        </p:spPr>
      </p:pic>
      <p:sp>
        <p:nvSpPr>
          <p:cNvPr id="8" name="Rectangle 7">
            <a:extLst>
              <a:ext uri="{FF2B5EF4-FFF2-40B4-BE49-F238E27FC236}">
                <a16:creationId xmlns:a16="http://schemas.microsoft.com/office/drawing/2014/main" id="{D3ED459F-EE7C-4487-B834-93E443C2D108}"/>
              </a:ext>
            </a:extLst>
          </p:cNvPr>
          <p:cNvSpPr/>
          <p:nvPr/>
        </p:nvSpPr>
        <p:spPr>
          <a:xfrm>
            <a:off x="1929760" y="122007"/>
            <a:ext cx="45719" cy="777909"/>
          </a:xfrm>
          <a:prstGeom prst="rect">
            <a:avLst/>
          </a:prstGeom>
          <a:solidFill>
            <a:srgbClr val="008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2761202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617720" y="274298"/>
            <a:ext cx="7469382" cy="584775"/>
          </a:xfrm>
          <a:prstGeom prst="rect">
            <a:avLst/>
          </a:prstGeom>
        </p:spPr>
        <p:txBody>
          <a:bodyPr wrap="square">
            <a:spAutoFit/>
          </a:bodyPr>
          <a:lstStyle/>
          <a:p>
            <a:pPr algn="r"/>
            <a:r>
              <a:rPr lang="ar-EG" sz="3200" b="1"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(3) نص المكالمة - </a:t>
            </a:r>
            <a:r>
              <a:rPr lang="ar-EG"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في حالة ان العميل لديه اعتراض على الفاتورة</a:t>
            </a:r>
            <a:endParaRPr lang="en-US"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p:txBody>
      </p:sp>
      <p:graphicFrame>
        <p:nvGraphicFramePr>
          <p:cNvPr id="9" name="Table 8"/>
          <p:cNvGraphicFramePr>
            <a:graphicFrameLocks noGrp="1"/>
          </p:cNvGraphicFramePr>
          <p:nvPr>
            <p:extLst>
              <p:ext uri="{D42A27DB-BD31-4B8C-83A1-F6EECF244321}">
                <p14:modId xmlns:p14="http://schemas.microsoft.com/office/powerpoint/2010/main" val="1346047614"/>
              </p:ext>
            </p:extLst>
          </p:nvPr>
        </p:nvGraphicFramePr>
        <p:xfrm>
          <a:off x="0" y="1301657"/>
          <a:ext cx="12192000" cy="5100389"/>
        </p:xfrm>
        <a:graphic>
          <a:graphicData uri="http://schemas.openxmlformats.org/drawingml/2006/table">
            <a:tbl>
              <a:tblPr bandRow="1">
                <a:tableStyleId>{C083E6E3-FA7D-4D7B-A595-EF9225AFEA82}</a:tableStyleId>
              </a:tblPr>
              <a:tblGrid>
                <a:gridCol w="10203499">
                  <a:extLst>
                    <a:ext uri="{9D8B030D-6E8A-4147-A177-3AD203B41FA5}">
                      <a16:colId xmlns:a16="http://schemas.microsoft.com/office/drawing/2014/main" val="3721312307"/>
                    </a:ext>
                  </a:extLst>
                </a:gridCol>
                <a:gridCol w="1988501">
                  <a:extLst>
                    <a:ext uri="{9D8B030D-6E8A-4147-A177-3AD203B41FA5}">
                      <a16:colId xmlns:a16="http://schemas.microsoft.com/office/drawing/2014/main" val="4197285037"/>
                    </a:ext>
                  </a:extLst>
                </a:gridCol>
              </a:tblGrid>
              <a:tr h="370840">
                <a:tc>
                  <a:txBody>
                    <a:bodyPr/>
                    <a:lstStyle/>
                    <a:p>
                      <a:pPr marL="0" marR="0" algn="r" defTabSz="914400" rtl="1"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السلام عليكم. مع</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ى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الأستاذ (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اسم العميل كامل</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 معك</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(أسم الموظف)</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من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شركة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السعودية</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للطاقة.</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marL="0" marR="0" algn="ctr" rtl="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extLst>
                  <a:ext uri="{0D108BD9-81ED-4DB2-BD59-A6C34878D82A}">
                    <a16:rowId xmlns:a16="http://schemas.microsoft.com/office/drawing/2014/main" val="4114411676"/>
                  </a:ext>
                </a:extLst>
              </a:tr>
              <a:tr h="370840">
                <a:tc>
                  <a:txBody>
                    <a:bodyPr/>
                    <a:lstStyle/>
                    <a:p>
                      <a:pPr algn="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نعم</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extLst>
                  <a:ext uri="{0D108BD9-81ED-4DB2-BD59-A6C34878D82A}">
                    <a16:rowId xmlns:a16="http://schemas.microsoft.com/office/drawing/2014/main" val="859014750"/>
                  </a:ext>
                </a:extLst>
              </a:tr>
              <a:tr h="370840">
                <a:tc>
                  <a:txBody>
                    <a:bodyPr/>
                    <a:lstStyle/>
                    <a:p>
                      <a:pPr marL="0" marR="0" algn="r" defTabSz="914400" rtl="0" eaLnBrk="1" latinLnBrk="0" hangingPunct="1">
                        <a:lnSpc>
                          <a:spcPct val="107000"/>
                        </a:lnSpc>
                        <a:spcBef>
                          <a:spcPts val="0"/>
                        </a:spcBef>
                        <a:spcAft>
                          <a:spcPts val="0"/>
                        </a:spcAft>
                      </a:pPr>
                      <a:r>
                        <a:rPr lang="ar-SA" sz="2000" b="1" dirty="0">
                          <a:solidFill>
                            <a:schemeClr val="tx1"/>
                          </a:solidFill>
                          <a:effectLst/>
                          <a:latin typeface="Sakkal Majalla" panose="02000000000000000000" pitchFamily="2" charset="-78"/>
                          <a:cs typeface="Sakkal Majalla" panose="02000000000000000000" pitchFamily="2" charset="-78"/>
                        </a:rPr>
                        <a:t>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تسمح لي بدقائق من وقتك</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او  الوقت مناسب للاتصال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086173451"/>
                  </a:ext>
                </a:extLst>
              </a:tr>
              <a:tr h="370840">
                <a:tc>
                  <a:txBody>
                    <a:bodyPr/>
                    <a:lstStyle/>
                    <a:p>
                      <a:pPr marL="0" marR="0" algn="r" defTabSz="914400" rtl="0"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نعم</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406570698"/>
                  </a:ext>
                </a:extLst>
              </a:tr>
              <a:tr h="370840">
                <a:tc>
                  <a:txBody>
                    <a:bodyPr/>
                    <a:lstStyle/>
                    <a:p>
                      <a:pPr marL="0" marR="0" algn="r" defTabSz="914400" rtl="0" eaLnBrk="1" latinLnBrk="0" hangingPunct="1">
                        <a:lnSpc>
                          <a:spcPct val="107000"/>
                        </a:lnSpc>
                        <a:spcBef>
                          <a:spcPts val="0"/>
                        </a:spcBef>
                        <a:spcAft>
                          <a:spcPts val="0"/>
                        </a:spcAft>
                      </a:pPr>
                      <a:r>
                        <a:rPr lang="ar-SA" sz="2000" b="1" dirty="0">
                          <a:solidFill>
                            <a:schemeClr val="tx1"/>
                          </a:solidFill>
                          <a:effectLst/>
                          <a:latin typeface="Sakkal Majalla" panose="02000000000000000000" pitchFamily="2" charset="-78"/>
                          <a:cs typeface="Sakkal Majalla" panose="02000000000000000000" pitchFamily="2" charset="-78"/>
                        </a:rPr>
                        <a:t>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أستاذي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اذا ما عليك امر</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بكلمك بخصوص ( فاتورة)  أو  (مبلغ مستحق عليك) أو (مديونية)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بقيمة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مراعاة ذكر المبلغ بالالف والمائة والريال والهلله</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على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نهاية</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رقم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حساب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نامل منك سداد</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ها.</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11762761"/>
                  </a:ext>
                </a:extLst>
              </a:tr>
              <a:tr h="370840">
                <a:tc>
                  <a:txBody>
                    <a:bodyPr/>
                    <a:lstStyle/>
                    <a:p>
                      <a:pPr marL="0" marR="0" algn="r" rtl="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ممكن تشرح لي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الفاتورة</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وتفاصيلها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799017468"/>
                  </a:ext>
                </a:extLst>
              </a:tr>
              <a:tr h="370840">
                <a:tc>
                  <a:txBody>
                    <a:bodyPr/>
                    <a:lstStyle/>
                    <a:p>
                      <a:pPr marL="0" marR="0" algn="r" defTabSz="914400" rtl="0"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اود افادتك ان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الفاتورة</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عبارة عن فاتورة استهلاك</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رسوم خدمة عداد</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بقيمة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476988691"/>
                  </a:ext>
                </a:extLst>
              </a:tr>
              <a:tr h="370840">
                <a:tc>
                  <a:txBody>
                    <a:bodyPr/>
                    <a:lstStyle/>
                    <a:p>
                      <a:pPr marL="0" marR="0" algn="r" defTabSz="914400" rtl="0"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انا اعترض على الفاتورة</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99008308"/>
                  </a:ext>
                </a:extLst>
              </a:tr>
              <a:tr h="370840">
                <a:tc>
                  <a:txBody>
                    <a:bodyPr/>
                    <a:lstStyle/>
                    <a:p>
                      <a:pPr marL="0" marR="0" algn="r" defTabSz="914400" rtl="1" eaLnBrk="1" latinLnBrk="0" hangingPunct="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من حقك الاعتراض  استاذي .. ويمكنك تقديم طلبك عن طريق الرقم الموحد ل</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ل</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شركة السعودية لل</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طاقة.</a:t>
                      </a:r>
                      <a:endPar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a:txBody>
                  <a:tcPr/>
                </a:tc>
                <a:tc>
                  <a:txBody>
                    <a:bodyPr/>
                    <a:lstStyle/>
                    <a:p>
                      <a:pPr marL="0" marR="0" algn="ctr" rtl="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extLst>
                  <a:ext uri="{0D108BD9-81ED-4DB2-BD59-A6C34878D82A}">
                    <a16:rowId xmlns:a16="http://schemas.microsoft.com/office/drawing/2014/main" val="2811835654"/>
                  </a:ext>
                </a:extLst>
              </a:tr>
              <a:tr h="370840">
                <a:tc>
                  <a:txBody>
                    <a:bodyPr/>
                    <a:lstStyle/>
                    <a:p>
                      <a:pPr algn="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استاذي الفاضل هل لديك أي استفسارات اخرى؟</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extLst>
                  <a:ext uri="{0D108BD9-81ED-4DB2-BD59-A6C34878D82A}">
                    <a16:rowId xmlns:a16="http://schemas.microsoft.com/office/drawing/2014/main" val="3079614071"/>
                  </a:ext>
                </a:extLst>
              </a:tr>
              <a:tr h="370840">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لا</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يوجد</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346954136"/>
                  </a:ext>
                </a:extLst>
              </a:tr>
              <a:tr h="443045">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أشكرك على وقتك...</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في امان الله</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extLst>
                  <a:ext uri="{0D108BD9-81ED-4DB2-BD59-A6C34878D82A}">
                    <a16:rowId xmlns:a16="http://schemas.microsoft.com/office/drawing/2014/main" val="3888282604"/>
                  </a:ext>
                </a:extLst>
              </a:tr>
            </a:tbl>
          </a:graphicData>
        </a:graphic>
      </p:graphicFrame>
      <p:pic>
        <p:nvPicPr>
          <p:cNvPr id="5" name="Picture 4">
            <a:extLst>
              <a:ext uri="{FF2B5EF4-FFF2-40B4-BE49-F238E27FC236}">
                <a16:creationId xmlns:a16="http://schemas.microsoft.com/office/drawing/2014/main" id="{F6205508-CE0A-4EFA-B11D-901E4810CA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5850" y="263708"/>
            <a:ext cx="1541483" cy="494509"/>
          </a:xfrm>
          <a:prstGeom prst="rect">
            <a:avLst/>
          </a:prstGeom>
        </p:spPr>
      </p:pic>
      <p:pic>
        <p:nvPicPr>
          <p:cNvPr id="6" name="Graphic 5">
            <a:extLst>
              <a:ext uri="{FF2B5EF4-FFF2-40B4-BE49-F238E27FC236}">
                <a16:creationId xmlns:a16="http://schemas.microsoft.com/office/drawing/2014/main" id="{792A0E28-3924-47ED-82F9-A9595EC5D9D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5552" y="75050"/>
            <a:ext cx="1023679" cy="884875"/>
          </a:xfrm>
          <a:prstGeom prst="rect">
            <a:avLst/>
          </a:prstGeom>
        </p:spPr>
      </p:pic>
      <p:sp>
        <p:nvSpPr>
          <p:cNvPr id="7" name="Rectangle 6">
            <a:extLst>
              <a:ext uri="{FF2B5EF4-FFF2-40B4-BE49-F238E27FC236}">
                <a16:creationId xmlns:a16="http://schemas.microsoft.com/office/drawing/2014/main" id="{AB2B90D2-54EE-40D8-B5B5-B607C3C069DF}"/>
              </a:ext>
            </a:extLst>
          </p:cNvPr>
          <p:cNvSpPr/>
          <p:nvPr/>
        </p:nvSpPr>
        <p:spPr>
          <a:xfrm>
            <a:off x="1929760" y="122007"/>
            <a:ext cx="45719" cy="777909"/>
          </a:xfrm>
          <a:prstGeom prst="rect">
            <a:avLst/>
          </a:prstGeom>
          <a:solidFill>
            <a:srgbClr val="008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1767993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971322" y="274298"/>
            <a:ext cx="5082131" cy="1077218"/>
          </a:xfrm>
          <a:prstGeom prst="rect">
            <a:avLst/>
          </a:prstGeom>
        </p:spPr>
        <p:txBody>
          <a:bodyPr wrap="square">
            <a:spAutoFit/>
          </a:bodyPr>
          <a:lstStyle/>
          <a:p>
            <a:pPr algn="r" rtl="1"/>
            <a:r>
              <a:rPr lang="ar-EG" sz="3200" b="1"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(4) نص المكالمة - </a:t>
            </a:r>
            <a:r>
              <a:rPr lang="ar-EG"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في حالة ان الوقت غير مناسب للاتصال</a:t>
            </a:r>
            <a:endParaRPr lang="en-US"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p:txBody>
      </p:sp>
      <p:graphicFrame>
        <p:nvGraphicFramePr>
          <p:cNvPr id="10" name="Table 9"/>
          <p:cNvGraphicFramePr>
            <a:graphicFrameLocks noGrp="1"/>
          </p:cNvGraphicFramePr>
          <p:nvPr>
            <p:extLst>
              <p:ext uri="{D42A27DB-BD31-4B8C-83A1-F6EECF244321}">
                <p14:modId xmlns:p14="http://schemas.microsoft.com/office/powerpoint/2010/main" val="3187199541"/>
              </p:ext>
            </p:extLst>
          </p:nvPr>
        </p:nvGraphicFramePr>
        <p:xfrm>
          <a:off x="0" y="1895121"/>
          <a:ext cx="12192000" cy="3543780"/>
        </p:xfrm>
        <a:graphic>
          <a:graphicData uri="http://schemas.openxmlformats.org/drawingml/2006/table">
            <a:tbl>
              <a:tblPr bandRow="1">
                <a:tableStyleId>{C083E6E3-FA7D-4D7B-A595-EF9225AFEA82}</a:tableStyleId>
              </a:tblPr>
              <a:tblGrid>
                <a:gridCol w="10203499">
                  <a:extLst>
                    <a:ext uri="{9D8B030D-6E8A-4147-A177-3AD203B41FA5}">
                      <a16:colId xmlns:a16="http://schemas.microsoft.com/office/drawing/2014/main" val="3721312307"/>
                    </a:ext>
                  </a:extLst>
                </a:gridCol>
                <a:gridCol w="1988501">
                  <a:extLst>
                    <a:ext uri="{9D8B030D-6E8A-4147-A177-3AD203B41FA5}">
                      <a16:colId xmlns:a16="http://schemas.microsoft.com/office/drawing/2014/main" val="4197285037"/>
                    </a:ext>
                  </a:extLst>
                </a:gridCol>
              </a:tblGrid>
              <a:tr h="523680">
                <a:tc>
                  <a:txBody>
                    <a:bodyPr/>
                    <a:lstStyle/>
                    <a:p>
                      <a:pPr marL="0" marR="0" algn="r" defTabSz="914400" rtl="1"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السلام عليكم. معى الأستاذ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اسم العميل كامل</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معك </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(أسم الموظف)</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من الشركة السعودية للطاقة.</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marL="0" marR="0" algn="ctr" rtl="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extLst>
                  <a:ext uri="{0D108BD9-81ED-4DB2-BD59-A6C34878D82A}">
                    <a16:rowId xmlns:a16="http://schemas.microsoft.com/office/drawing/2014/main" val="4114411676"/>
                  </a:ext>
                </a:extLst>
              </a:tr>
              <a:tr h="497590">
                <a:tc>
                  <a:txBody>
                    <a:bodyPr/>
                    <a:lstStyle/>
                    <a:p>
                      <a:pPr algn="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نعم</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extLst>
                  <a:ext uri="{0D108BD9-81ED-4DB2-BD59-A6C34878D82A}">
                    <a16:rowId xmlns:a16="http://schemas.microsoft.com/office/drawing/2014/main" val="859014750"/>
                  </a:ext>
                </a:extLst>
              </a:tr>
              <a:tr h="504502">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تسمح لي بدقائق من وقتك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086173451"/>
                  </a:ext>
                </a:extLst>
              </a:tr>
              <a:tr h="504502">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أنا مشغول الان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406570698"/>
                  </a:ext>
                </a:extLst>
              </a:tr>
              <a:tr h="504502">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ممكن تزودنا متى الوقت المناسب للتواصل معاك استاذي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11762761"/>
                  </a:ext>
                </a:extLst>
              </a:tr>
              <a:tr h="504502">
                <a:tc>
                  <a:txBody>
                    <a:bodyPr/>
                    <a:lstStyle/>
                    <a:p>
                      <a:pPr marL="0" marR="0" algn="r" rtl="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تواصلوا معي في هذا الوقت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799017468"/>
                  </a:ext>
                </a:extLst>
              </a:tr>
              <a:tr h="504502">
                <a:tc>
                  <a:txBody>
                    <a:bodyPr/>
                    <a:lstStyle/>
                    <a:p>
                      <a:pPr algn="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اعتذر على ازعاجك و سيتم التواصل معك في الوقت المحدد .. شكرا لك</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476988691"/>
                  </a:ext>
                </a:extLst>
              </a:tr>
            </a:tbl>
          </a:graphicData>
        </a:graphic>
      </p:graphicFrame>
      <p:pic>
        <p:nvPicPr>
          <p:cNvPr id="5" name="Picture 4">
            <a:extLst>
              <a:ext uri="{FF2B5EF4-FFF2-40B4-BE49-F238E27FC236}">
                <a16:creationId xmlns:a16="http://schemas.microsoft.com/office/drawing/2014/main" id="{317F83C0-5B71-42A2-B086-8CB923DFD7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850" y="263708"/>
            <a:ext cx="1541483" cy="494509"/>
          </a:xfrm>
          <a:prstGeom prst="rect">
            <a:avLst/>
          </a:prstGeom>
        </p:spPr>
      </p:pic>
      <p:pic>
        <p:nvPicPr>
          <p:cNvPr id="7" name="Graphic 6">
            <a:extLst>
              <a:ext uri="{FF2B5EF4-FFF2-40B4-BE49-F238E27FC236}">
                <a16:creationId xmlns:a16="http://schemas.microsoft.com/office/drawing/2014/main" id="{FF8B3B3E-3D93-4906-8215-0237C55336B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5552" y="75050"/>
            <a:ext cx="1023679" cy="884875"/>
          </a:xfrm>
          <a:prstGeom prst="rect">
            <a:avLst/>
          </a:prstGeom>
        </p:spPr>
      </p:pic>
      <p:sp>
        <p:nvSpPr>
          <p:cNvPr id="8" name="Rectangle 7">
            <a:extLst>
              <a:ext uri="{FF2B5EF4-FFF2-40B4-BE49-F238E27FC236}">
                <a16:creationId xmlns:a16="http://schemas.microsoft.com/office/drawing/2014/main" id="{79AAD9B2-9C23-4E1B-BFA1-58B75AEEBD14}"/>
              </a:ext>
            </a:extLst>
          </p:cNvPr>
          <p:cNvSpPr/>
          <p:nvPr/>
        </p:nvSpPr>
        <p:spPr>
          <a:xfrm>
            <a:off x="1929760" y="122007"/>
            <a:ext cx="45719" cy="777909"/>
          </a:xfrm>
          <a:prstGeom prst="rect">
            <a:avLst/>
          </a:prstGeom>
          <a:solidFill>
            <a:srgbClr val="008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248319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3455310332"/>
              </p:ext>
            </p:extLst>
          </p:nvPr>
        </p:nvGraphicFramePr>
        <p:xfrm>
          <a:off x="118752" y="1466950"/>
          <a:ext cx="12073247" cy="4716615"/>
        </p:xfrm>
        <a:graphic>
          <a:graphicData uri="http://schemas.openxmlformats.org/drawingml/2006/table">
            <a:tbl>
              <a:tblPr bandRow="1">
                <a:tableStyleId>{C083E6E3-FA7D-4D7B-A595-EF9225AFEA82}</a:tableStyleId>
              </a:tblPr>
              <a:tblGrid>
                <a:gridCol w="10104114">
                  <a:extLst>
                    <a:ext uri="{9D8B030D-6E8A-4147-A177-3AD203B41FA5}">
                      <a16:colId xmlns:a16="http://schemas.microsoft.com/office/drawing/2014/main" val="3721312307"/>
                    </a:ext>
                  </a:extLst>
                </a:gridCol>
                <a:gridCol w="1969133">
                  <a:extLst>
                    <a:ext uri="{9D8B030D-6E8A-4147-A177-3AD203B41FA5}">
                      <a16:colId xmlns:a16="http://schemas.microsoft.com/office/drawing/2014/main" val="4197285037"/>
                    </a:ext>
                  </a:extLst>
                </a:gridCol>
              </a:tblGrid>
              <a:tr h="404651">
                <a:tc>
                  <a:txBody>
                    <a:bodyPr/>
                    <a:lstStyle/>
                    <a:p>
                      <a:pPr marL="0" marR="0" algn="r" defTabSz="914400" rtl="1"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السلام عليكم. معى الأستاذ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اسم العميل كامل</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معك (أسم الموظف)</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من  الشركة السعودية للطاقة.</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marL="0" marR="0" algn="ctr" rtl="1">
                        <a:lnSpc>
                          <a:spcPct val="107000"/>
                        </a:lnSpc>
                        <a:spcBef>
                          <a:spcPts val="0"/>
                        </a:spcBef>
                        <a:spcAft>
                          <a:spcPts val="0"/>
                        </a:spcAft>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8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extLst>
                  <a:ext uri="{0D108BD9-81ED-4DB2-BD59-A6C34878D82A}">
                    <a16:rowId xmlns:a16="http://schemas.microsoft.com/office/drawing/2014/main" val="4114411676"/>
                  </a:ext>
                </a:extLst>
              </a:tr>
              <a:tr h="384491">
                <a:tc>
                  <a:txBody>
                    <a:bodyPr/>
                    <a:lstStyle/>
                    <a:p>
                      <a:pPr algn="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نعم</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extLst>
                  <a:ext uri="{0D108BD9-81ED-4DB2-BD59-A6C34878D82A}">
                    <a16:rowId xmlns:a16="http://schemas.microsoft.com/office/drawing/2014/main" val="859014750"/>
                  </a:ext>
                </a:extLst>
              </a:tr>
              <a:tr h="389832">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تسمح لي بدقائق من وقتك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086173451"/>
                  </a:ext>
                </a:extLst>
              </a:tr>
              <a:tr h="389832">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نعم</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406570698"/>
                  </a:ext>
                </a:extLst>
              </a:tr>
              <a:tr h="617055">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أستاذي اذا ما عليك امر.. بكلمك بخصوص ( فاتورة)  أو  (مبلغ مستحق عليك) أو (مديونية) </a:t>
                      </a:r>
                      <a:r>
                        <a:rPr lang="ar-EG" sz="2000" b="1" kern="1200" baseline="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بقيمة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مراعاة ذكر المبلغ بالالف والمائة والريال والهلله</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على </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نهاية رقم الحساب ( ) نامل منك سدادها</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11762761"/>
                  </a:ext>
                </a:extLst>
              </a:tr>
              <a:tr h="389832">
                <a:tc>
                  <a:txBody>
                    <a:bodyPr/>
                    <a:lstStyle/>
                    <a:p>
                      <a:pPr marL="0" marR="0" algn="r" rtl="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سيتم سدادها</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799017468"/>
                  </a:ext>
                </a:extLst>
              </a:tr>
              <a:tr h="389832">
                <a:tc>
                  <a:txBody>
                    <a:bodyPr/>
                    <a:lstStyle/>
                    <a:p>
                      <a:pPr algn="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يتم ذكر طرق السداد / استاذي الفاضل هل لديك أي استفسارات اخرى بخصوص عملية السداد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476988691"/>
                  </a:ext>
                </a:extLst>
              </a:tr>
              <a:tr h="389832">
                <a:tc>
                  <a:txBody>
                    <a:bodyPr/>
                    <a:lstStyle/>
                    <a:p>
                      <a:pPr marL="0" marR="0" algn="r" defTabSz="914400" rtl="0" eaLnBrk="1" latinLnBrk="0" hangingPunct="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ذكر شكوى  العميل</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العميل </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811835654"/>
                  </a:ext>
                </a:extLst>
              </a:tr>
              <a:tr h="617055">
                <a:tc>
                  <a:txBody>
                    <a:bodyPr/>
                    <a:lstStyle/>
                    <a:p>
                      <a:pPr marL="0" marR="0" algn="r" rtl="1">
                        <a:lnSpc>
                          <a:spcPct val="107000"/>
                        </a:lnSpc>
                        <a:spcBef>
                          <a:spcPts val="0"/>
                        </a:spcBef>
                        <a:spcAft>
                          <a:spcPts val="0"/>
                        </a:spcAft>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استاذي الكريم بإمكانك التواصل مع الزملاء في مركز الاتصال عن طريق الرقم الموحد للشركة السعودية للطاقة و سيتم خدمتك ان شاء الله أو زيارة أقرب فرع؟</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079614071"/>
                  </a:ext>
                </a:extLst>
              </a:tr>
              <a:tr h="617055">
                <a:tc>
                  <a:txBody>
                    <a:bodyPr/>
                    <a:lstStyle/>
                    <a:p>
                      <a:pPr marL="0" marR="0" lvl="0" indent="0" algn="r" defTabSz="914400" rtl="1" eaLnBrk="1" fontAlgn="auto" latinLnBrk="0" hangingPunct="1">
                        <a:lnSpc>
                          <a:spcPct val="107000"/>
                        </a:lnSpc>
                        <a:spcBef>
                          <a:spcPts val="0"/>
                        </a:spcBef>
                        <a:spcAft>
                          <a:spcPts val="0"/>
                        </a:spcAft>
                        <a:buClrTx/>
                        <a:buSzTx/>
                        <a:buFontTx/>
                        <a:buNone/>
                        <a:tabLst/>
                        <a:defRPr/>
                      </a:pP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أشكرك على وقتك  ..</a:t>
                      </a: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في امان الله</a:t>
                      </a:r>
                      <a:r>
                        <a:rPr lang="ar-EG"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 </a:t>
                      </a:r>
                      <a:endParaRPr lang="en-US" sz="2000" b="1" kern="1200" dirty="0">
                        <a:solidFill>
                          <a:schemeClr val="tx1"/>
                        </a:solidFill>
                        <a:effectLst>
                          <a:outerShdw blurRad="38100" dist="38100" dir="2700000" algn="tl">
                            <a:srgbClr val="000000">
                              <a:alpha val="43137"/>
                            </a:srgbClr>
                          </a:outerShdw>
                        </a:effectLst>
                        <a:latin typeface="Sakkal Majalla" panose="02000000000000000000" pitchFamily="2" charset="-78"/>
                        <a:ea typeface="+mn-ea"/>
                        <a:cs typeface="Sakkal Majalla" panose="02000000000000000000" pitchFamily="2" charset="-78"/>
                      </a:endParaRPr>
                    </a:p>
                  </a:txBody>
                  <a:tcPr marL="68580" marR="68580" marT="0" marB="0" anchor="ctr"/>
                </a:tc>
                <a:tc>
                  <a:txBody>
                    <a:bodyPr/>
                    <a:lstStyle/>
                    <a:p>
                      <a:pPr algn="ctr"/>
                      <a:r>
                        <a:rPr lang="ar-SA" sz="2000" b="1" kern="1200" dirty="0">
                          <a:solidFill>
                            <a:schemeClr val="tx1"/>
                          </a:solidFill>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الموظف</a:t>
                      </a:r>
                      <a:endParaRPr lang="en-US" sz="2000" b="1"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346954136"/>
                  </a:ext>
                </a:extLst>
              </a:tr>
            </a:tbl>
          </a:graphicData>
        </a:graphic>
      </p:graphicFrame>
      <p:sp>
        <p:nvSpPr>
          <p:cNvPr id="9" name="Rectangle 8"/>
          <p:cNvSpPr/>
          <p:nvPr/>
        </p:nvSpPr>
        <p:spPr>
          <a:xfrm>
            <a:off x="4001477" y="274298"/>
            <a:ext cx="8004478" cy="1077218"/>
          </a:xfrm>
          <a:prstGeom prst="rect">
            <a:avLst/>
          </a:prstGeom>
        </p:spPr>
        <p:txBody>
          <a:bodyPr wrap="square">
            <a:spAutoFit/>
          </a:bodyPr>
          <a:lstStyle/>
          <a:p>
            <a:pPr algn="r" rtl="1"/>
            <a:r>
              <a:rPr lang="ar-EG" sz="3200" b="1"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(5) نص المكالمة - </a:t>
            </a:r>
            <a:r>
              <a:rPr lang="ar-EG"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rPr>
              <a:t>في حالة ان العميل لديه استفسارات أخرى غير متعلقة بالرصيد والفواتير</a:t>
            </a:r>
            <a:endParaRPr lang="en-US" sz="3200" b="1" u="sng" dirty="0">
              <a:effectLst>
                <a:outerShdw blurRad="38100" dist="38100" dir="2700000" algn="tl">
                  <a:srgbClr val="000000">
                    <a:alpha val="43137"/>
                  </a:srgbClr>
                </a:outerShdw>
              </a:effectLst>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11EC3059-9AB2-44AA-8A02-0BF1A5B2AF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850" y="263708"/>
            <a:ext cx="1541483" cy="494509"/>
          </a:xfrm>
          <a:prstGeom prst="rect">
            <a:avLst/>
          </a:prstGeom>
        </p:spPr>
      </p:pic>
      <p:pic>
        <p:nvPicPr>
          <p:cNvPr id="8" name="Graphic 7">
            <a:extLst>
              <a:ext uri="{FF2B5EF4-FFF2-40B4-BE49-F238E27FC236}">
                <a16:creationId xmlns:a16="http://schemas.microsoft.com/office/drawing/2014/main" id="{0921DD13-CD4E-43DE-8562-A94B6763FEEE}"/>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5552" y="75050"/>
            <a:ext cx="1023679" cy="884875"/>
          </a:xfrm>
          <a:prstGeom prst="rect">
            <a:avLst/>
          </a:prstGeom>
        </p:spPr>
      </p:pic>
      <p:sp>
        <p:nvSpPr>
          <p:cNvPr id="10" name="Rectangle 9">
            <a:extLst>
              <a:ext uri="{FF2B5EF4-FFF2-40B4-BE49-F238E27FC236}">
                <a16:creationId xmlns:a16="http://schemas.microsoft.com/office/drawing/2014/main" id="{776046CD-11F6-4911-AEF2-62A646A43D50}"/>
              </a:ext>
            </a:extLst>
          </p:cNvPr>
          <p:cNvSpPr/>
          <p:nvPr/>
        </p:nvSpPr>
        <p:spPr>
          <a:xfrm>
            <a:off x="1929760" y="122007"/>
            <a:ext cx="45719" cy="777909"/>
          </a:xfrm>
          <a:prstGeom prst="rect">
            <a:avLst/>
          </a:prstGeom>
          <a:solidFill>
            <a:srgbClr val="008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2273007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11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 0"/>
          <p:cNvSpPr/>
          <p:nvPr/>
        </p:nvSpPr>
        <p:spPr>
          <a:xfrm>
            <a:off x="7242869" y="1422202"/>
            <a:ext cx="4313535" cy="539254"/>
          </a:xfrm>
          <a:prstGeom prst="rect">
            <a:avLst/>
          </a:prstGeom>
          <a:noFill/>
          <a:ln/>
        </p:spPr>
        <p:txBody>
          <a:bodyPr wrap="none" lIns="0" tIns="0" rIns="0" bIns="0" rtlCol="0" anchor="t"/>
          <a:lstStyle/>
          <a:p>
            <a:pPr algn="r" rtl="1">
              <a:lnSpc>
                <a:spcPts val="4208"/>
              </a:lnSpc>
            </a:pPr>
            <a:r>
              <a:rPr lang="en-US" sz="3375" b="1" u="sng" dirty="0">
                <a:solidFill>
                  <a:srgbClr val="000000"/>
                </a:solidFill>
                <a:latin typeface="Arial" panose="020B0604020202020204" pitchFamily="34" charset="0"/>
                <a:ea typeface="Inter Bold" pitchFamily="34" charset="-122"/>
                <a:cs typeface="Arial" panose="020B0604020202020204" pitchFamily="34" charset="0"/>
              </a:rPr>
              <a:t>في حالة أن العميل سأل</a:t>
            </a:r>
            <a:r>
              <a:rPr lang="ar-EG" sz="3375" b="1" u="sng" dirty="0">
                <a:solidFill>
                  <a:srgbClr val="000000"/>
                </a:solidFill>
                <a:latin typeface="Arial" panose="020B0604020202020204" pitchFamily="34" charset="0"/>
                <a:ea typeface="Inter Bold" pitchFamily="34" charset="-122"/>
                <a:cs typeface="Arial" panose="020B0604020202020204" pitchFamily="34" charset="0"/>
              </a:rPr>
              <a:t>؟</a:t>
            </a:r>
            <a:endParaRPr lang="en-US" sz="3375" u="sng" dirty="0">
              <a:latin typeface="Arial" panose="020B0604020202020204" pitchFamily="34" charset="0"/>
              <a:cs typeface="Arial" panose="020B0604020202020204" pitchFamily="34" charset="0"/>
            </a:endParaRPr>
          </a:p>
        </p:txBody>
      </p:sp>
      <p:sp>
        <p:nvSpPr>
          <p:cNvPr id="4" name="Shape 1"/>
          <p:cNvSpPr/>
          <p:nvPr/>
        </p:nvSpPr>
        <p:spPr>
          <a:xfrm>
            <a:off x="8021142" y="2197696"/>
            <a:ext cx="3535263" cy="4115494"/>
          </a:xfrm>
          <a:prstGeom prst="roundRect">
            <a:avLst>
              <a:gd name="adj" fmla="val 2587"/>
            </a:avLst>
          </a:prstGeom>
          <a:solidFill>
            <a:srgbClr val="FFFFFF"/>
          </a:solidFill>
          <a:ln w="22860">
            <a:solidFill>
              <a:srgbClr val="C0C1D7"/>
            </a:solidFill>
            <a:prstDash val="solid"/>
          </a:ln>
        </p:spPr>
      </p:sp>
      <p:sp>
        <p:nvSpPr>
          <p:cNvPr id="5" name="Shape 2"/>
          <p:cNvSpPr/>
          <p:nvPr/>
        </p:nvSpPr>
        <p:spPr>
          <a:xfrm>
            <a:off x="11499255" y="2197696"/>
            <a:ext cx="76200" cy="4115494"/>
          </a:xfrm>
          <a:prstGeom prst="roundRect">
            <a:avLst>
              <a:gd name="adj" fmla="val 95102"/>
            </a:avLst>
          </a:prstGeom>
          <a:solidFill>
            <a:srgbClr val="4950BC"/>
          </a:solidFill>
          <a:ln/>
        </p:spPr>
      </p:sp>
      <p:sp>
        <p:nvSpPr>
          <p:cNvPr id="6" name="Text 3"/>
          <p:cNvSpPr/>
          <p:nvPr/>
        </p:nvSpPr>
        <p:spPr>
          <a:xfrm>
            <a:off x="8212733" y="2389287"/>
            <a:ext cx="3094931" cy="808732"/>
          </a:xfrm>
          <a:prstGeom prst="rect">
            <a:avLst/>
          </a:prstGeom>
          <a:noFill/>
          <a:ln/>
        </p:spPr>
        <p:txBody>
          <a:bodyPr wrap="square" lIns="0" tIns="0" rIns="0" bIns="0" rtlCol="0" anchor="t"/>
          <a:lstStyle/>
          <a:p>
            <a:pPr algn="r" rtl="1">
              <a:lnSpc>
                <a:spcPts val="2083"/>
              </a:lnSpc>
            </a:pPr>
            <a:r>
              <a:rPr lang="en-US" sz="1667" b="1" dirty="0">
                <a:solidFill>
                  <a:srgbClr val="272525"/>
                </a:solidFill>
                <a:latin typeface="Arial" panose="020B0604020202020204" pitchFamily="34" charset="0"/>
                <a:ea typeface="Inter Bold" pitchFamily="34" charset="-122"/>
                <a:cs typeface="Arial" panose="020B0604020202020204" pitchFamily="34" charset="0"/>
              </a:rPr>
              <a:t>س/ في حالة أن العميل أوضح ان الفاتورة ليست له بالرغم من أن الفاتورة على اسم العميل ؟</a:t>
            </a:r>
            <a:endParaRPr lang="en-US" sz="1667" dirty="0">
              <a:latin typeface="Arial" panose="020B0604020202020204" pitchFamily="34" charset="0"/>
              <a:cs typeface="Arial" panose="020B0604020202020204" pitchFamily="34" charset="0"/>
            </a:endParaRPr>
          </a:p>
        </p:txBody>
      </p:sp>
      <p:sp>
        <p:nvSpPr>
          <p:cNvPr id="7" name="Text 4"/>
          <p:cNvSpPr/>
          <p:nvPr/>
        </p:nvSpPr>
        <p:spPr>
          <a:xfrm>
            <a:off x="8212733" y="3292475"/>
            <a:ext cx="3094931" cy="528043"/>
          </a:xfrm>
          <a:prstGeom prst="rect">
            <a:avLst/>
          </a:prstGeom>
          <a:noFill/>
          <a:ln/>
        </p:spPr>
        <p:txBody>
          <a:bodyPr wrap="square" lIns="0" tIns="0" rIns="0" bIns="0" rtlCol="0" anchor="t"/>
          <a:lstStyle/>
          <a:p>
            <a:pPr algn="r" rtl="1">
              <a:lnSpc>
                <a:spcPts val="2042"/>
              </a:lnSpc>
            </a:pPr>
            <a:r>
              <a:rPr lang="en-US" sz="1333" dirty="0">
                <a:solidFill>
                  <a:srgbClr val="272525"/>
                </a:solidFill>
                <a:latin typeface="Arial" panose="020B0604020202020204" pitchFamily="34" charset="0"/>
                <a:ea typeface="Inter" pitchFamily="34" charset="-122"/>
                <a:cs typeface="Arial" panose="020B0604020202020204" pitchFamily="34" charset="0"/>
              </a:rPr>
              <a:t>ج/ يتم اعطائه رقم الحساب والدخول على التطبيق للتأكد طالما أن الفاتورة باسمه.</a:t>
            </a:r>
            <a:endParaRPr lang="en-US" sz="1333" dirty="0">
              <a:latin typeface="Arial" panose="020B0604020202020204" pitchFamily="34" charset="0"/>
              <a:cs typeface="Arial" panose="020B0604020202020204" pitchFamily="34" charset="0"/>
            </a:endParaRPr>
          </a:p>
        </p:txBody>
      </p:sp>
      <p:sp>
        <p:nvSpPr>
          <p:cNvPr id="8" name="Text 5"/>
          <p:cNvSpPr/>
          <p:nvPr/>
        </p:nvSpPr>
        <p:spPr>
          <a:xfrm>
            <a:off x="8212733" y="3914974"/>
            <a:ext cx="3094931" cy="792063"/>
          </a:xfrm>
          <a:prstGeom prst="rect">
            <a:avLst/>
          </a:prstGeom>
          <a:noFill/>
          <a:ln/>
        </p:spPr>
        <p:txBody>
          <a:bodyPr wrap="square" lIns="0" tIns="0" rIns="0" bIns="0" rtlCol="0" anchor="t"/>
          <a:lstStyle/>
          <a:p>
            <a:pPr algn="r" rtl="1">
              <a:lnSpc>
                <a:spcPts val="2042"/>
              </a:lnSpc>
            </a:pPr>
            <a:r>
              <a:rPr lang="en-US" sz="1333" dirty="0">
                <a:solidFill>
                  <a:srgbClr val="272525"/>
                </a:solidFill>
                <a:latin typeface="Arial" panose="020B0604020202020204" pitchFamily="34" charset="0"/>
                <a:ea typeface="Inter" pitchFamily="34" charset="-122"/>
                <a:cs typeface="Arial" panose="020B0604020202020204" pitchFamily="34" charset="0"/>
              </a:rPr>
              <a:t>ج2 / ممكن تكون استهلاك شخص اخر بس مسجل بأسمك وبامكانك تتاكد من تطبيق الطاقة.</a:t>
            </a:r>
            <a:endParaRPr lang="en-US" sz="1333" dirty="0">
              <a:latin typeface="Arial" panose="020B0604020202020204" pitchFamily="34" charset="0"/>
              <a:cs typeface="Arial" panose="020B0604020202020204" pitchFamily="34" charset="0"/>
            </a:endParaRPr>
          </a:p>
        </p:txBody>
      </p:sp>
      <p:sp>
        <p:nvSpPr>
          <p:cNvPr id="9" name="Shape 6"/>
          <p:cNvSpPr/>
          <p:nvPr/>
        </p:nvSpPr>
        <p:spPr>
          <a:xfrm>
            <a:off x="4328419" y="2197696"/>
            <a:ext cx="3535263" cy="4115494"/>
          </a:xfrm>
          <a:prstGeom prst="roundRect">
            <a:avLst>
              <a:gd name="adj" fmla="val 2587"/>
            </a:avLst>
          </a:prstGeom>
          <a:solidFill>
            <a:srgbClr val="FFFFFF"/>
          </a:solidFill>
          <a:ln w="22860">
            <a:solidFill>
              <a:srgbClr val="C0C1D7"/>
            </a:solidFill>
            <a:prstDash val="solid"/>
          </a:ln>
        </p:spPr>
      </p:sp>
      <p:sp>
        <p:nvSpPr>
          <p:cNvPr id="10" name="Shape 7"/>
          <p:cNvSpPr/>
          <p:nvPr/>
        </p:nvSpPr>
        <p:spPr>
          <a:xfrm>
            <a:off x="7806532" y="2197696"/>
            <a:ext cx="76200" cy="4115494"/>
          </a:xfrm>
          <a:prstGeom prst="roundRect">
            <a:avLst>
              <a:gd name="adj" fmla="val 95102"/>
            </a:avLst>
          </a:prstGeom>
          <a:solidFill>
            <a:srgbClr val="4950BC"/>
          </a:solidFill>
          <a:ln/>
        </p:spPr>
      </p:sp>
      <p:sp>
        <p:nvSpPr>
          <p:cNvPr id="11" name="Text 8"/>
          <p:cNvSpPr/>
          <p:nvPr/>
        </p:nvSpPr>
        <p:spPr>
          <a:xfrm>
            <a:off x="4520010" y="2389287"/>
            <a:ext cx="3094931" cy="539155"/>
          </a:xfrm>
          <a:prstGeom prst="rect">
            <a:avLst/>
          </a:prstGeom>
          <a:noFill/>
          <a:ln/>
        </p:spPr>
        <p:txBody>
          <a:bodyPr wrap="square" lIns="0" tIns="0" rIns="0" bIns="0" rtlCol="0" anchor="t"/>
          <a:lstStyle/>
          <a:p>
            <a:pPr algn="r" rtl="1">
              <a:lnSpc>
                <a:spcPts val="2083"/>
              </a:lnSpc>
            </a:pPr>
            <a:r>
              <a:rPr lang="en-US" sz="1667" b="1" dirty="0">
                <a:solidFill>
                  <a:srgbClr val="272525"/>
                </a:solidFill>
                <a:latin typeface="Arial" panose="020B0604020202020204" pitchFamily="34" charset="0"/>
                <a:ea typeface="Inter Bold" pitchFamily="34" charset="-122"/>
                <a:cs typeface="Arial" panose="020B0604020202020204" pitchFamily="34" charset="0"/>
              </a:rPr>
              <a:t>س/ اذا اوضح العميل أن الفاتورة على المستأجر وليست على العميل ؟</a:t>
            </a:r>
            <a:endParaRPr lang="en-US" sz="1667" dirty="0">
              <a:latin typeface="Arial" panose="020B0604020202020204" pitchFamily="34" charset="0"/>
              <a:cs typeface="Arial" panose="020B0604020202020204" pitchFamily="34" charset="0"/>
            </a:endParaRPr>
          </a:p>
        </p:txBody>
      </p:sp>
      <p:sp>
        <p:nvSpPr>
          <p:cNvPr id="12" name="Text 9"/>
          <p:cNvSpPr/>
          <p:nvPr/>
        </p:nvSpPr>
        <p:spPr>
          <a:xfrm>
            <a:off x="4520010" y="3022898"/>
            <a:ext cx="3094931" cy="792063"/>
          </a:xfrm>
          <a:prstGeom prst="rect">
            <a:avLst/>
          </a:prstGeom>
          <a:noFill/>
          <a:ln/>
        </p:spPr>
        <p:txBody>
          <a:bodyPr wrap="square" lIns="0" tIns="0" rIns="0" bIns="0" rtlCol="0" anchor="t"/>
          <a:lstStyle/>
          <a:p>
            <a:pPr algn="r" rtl="1">
              <a:lnSpc>
                <a:spcPts val="2042"/>
              </a:lnSpc>
            </a:pPr>
            <a:r>
              <a:rPr lang="en-US" sz="1333" dirty="0">
                <a:solidFill>
                  <a:srgbClr val="272525"/>
                </a:solidFill>
                <a:latin typeface="Arial" panose="020B0604020202020204" pitchFamily="34" charset="0"/>
                <a:ea typeface="Inter" pitchFamily="34" charset="-122"/>
                <a:cs typeface="Arial" panose="020B0604020202020204" pitchFamily="34" charset="0"/>
              </a:rPr>
              <a:t>ج/ يتم ابلاغ العميل بالتواصل مع المستأجر او طلب رقم المستأجر للتواصل معه حتى يتم السداد.</a:t>
            </a:r>
            <a:endParaRPr lang="en-US" sz="1333" dirty="0">
              <a:latin typeface="Arial" panose="020B0604020202020204" pitchFamily="34" charset="0"/>
              <a:cs typeface="Arial" panose="020B0604020202020204" pitchFamily="34" charset="0"/>
            </a:endParaRPr>
          </a:p>
        </p:txBody>
      </p:sp>
      <p:sp>
        <p:nvSpPr>
          <p:cNvPr id="13" name="Text 10"/>
          <p:cNvSpPr/>
          <p:nvPr/>
        </p:nvSpPr>
        <p:spPr>
          <a:xfrm>
            <a:off x="4520010" y="3909418"/>
            <a:ext cx="3094931" cy="528043"/>
          </a:xfrm>
          <a:prstGeom prst="rect">
            <a:avLst/>
          </a:prstGeom>
          <a:noFill/>
          <a:ln/>
        </p:spPr>
        <p:txBody>
          <a:bodyPr wrap="square" lIns="0" tIns="0" rIns="0" bIns="0" rtlCol="0" anchor="t"/>
          <a:lstStyle/>
          <a:p>
            <a:pPr algn="r" rtl="1">
              <a:lnSpc>
                <a:spcPts val="2042"/>
              </a:lnSpc>
            </a:pPr>
            <a:r>
              <a:rPr lang="en-US" sz="1333" dirty="0">
                <a:solidFill>
                  <a:srgbClr val="272525"/>
                </a:solidFill>
                <a:latin typeface="Arial" panose="020B0604020202020204" pitchFamily="34" charset="0"/>
                <a:ea typeface="Inter" pitchFamily="34" charset="-122"/>
                <a:cs typeface="Arial" panose="020B0604020202020204" pitchFamily="34" charset="0"/>
              </a:rPr>
              <a:t>ج2/ تما يا استاذي حاول تبلغ المستأجر يحرص على السداد خلال الشهر الحالي.</a:t>
            </a:r>
            <a:endParaRPr lang="en-US" sz="1333" dirty="0">
              <a:latin typeface="Arial" panose="020B0604020202020204" pitchFamily="34" charset="0"/>
              <a:cs typeface="Arial" panose="020B0604020202020204" pitchFamily="34" charset="0"/>
            </a:endParaRPr>
          </a:p>
        </p:txBody>
      </p:sp>
      <p:sp>
        <p:nvSpPr>
          <p:cNvPr id="14" name="Shape 11"/>
          <p:cNvSpPr/>
          <p:nvPr/>
        </p:nvSpPr>
        <p:spPr>
          <a:xfrm>
            <a:off x="635595" y="2197696"/>
            <a:ext cx="3535363" cy="4115494"/>
          </a:xfrm>
          <a:prstGeom prst="roundRect">
            <a:avLst>
              <a:gd name="adj" fmla="val 2586"/>
            </a:avLst>
          </a:prstGeom>
          <a:solidFill>
            <a:srgbClr val="FFFFFF"/>
          </a:solidFill>
          <a:ln w="22860">
            <a:solidFill>
              <a:srgbClr val="C0C1D7"/>
            </a:solidFill>
            <a:prstDash val="solid"/>
          </a:ln>
        </p:spPr>
      </p:sp>
      <p:sp>
        <p:nvSpPr>
          <p:cNvPr id="15" name="Shape 12"/>
          <p:cNvSpPr/>
          <p:nvPr/>
        </p:nvSpPr>
        <p:spPr>
          <a:xfrm>
            <a:off x="4113808" y="2197696"/>
            <a:ext cx="76200" cy="4115494"/>
          </a:xfrm>
          <a:prstGeom prst="roundRect">
            <a:avLst>
              <a:gd name="adj" fmla="val 95102"/>
            </a:avLst>
          </a:prstGeom>
          <a:solidFill>
            <a:srgbClr val="4950BC"/>
          </a:solidFill>
          <a:ln/>
        </p:spPr>
      </p:sp>
      <p:sp>
        <p:nvSpPr>
          <p:cNvPr id="16" name="Text 13"/>
          <p:cNvSpPr/>
          <p:nvPr/>
        </p:nvSpPr>
        <p:spPr>
          <a:xfrm>
            <a:off x="827187" y="2389287"/>
            <a:ext cx="3095030" cy="808732"/>
          </a:xfrm>
          <a:prstGeom prst="rect">
            <a:avLst/>
          </a:prstGeom>
          <a:noFill/>
          <a:ln/>
        </p:spPr>
        <p:txBody>
          <a:bodyPr wrap="square" lIns="0" tIns="0" rIns="0" bIns="0" rtlCol="0" anchor="t"/>
          <a:lstStyle/>
          <a:p>
            <a:pPr algn="r" rtl="1">
              <a:lnSpc>
                <a:spcPts val="2083"/>
              </a:lnSpc>
            </a:pPr>
            <a:r>
              <a:rPr lang="en-US" sz="1667" b="1" dirty="0">
                <a:solidFill>
                  <a:srgbClr val="272525"/>
                </a:solidFill>
                <a:latin typeface="Arial" panose="020B0604020202020204" pitchFamily="34" charset="0"/>
                <a:ea typeface="Inter Bold" pitchFamily="34" charset="-122"/>
                <a:cs typeface="Arial" panose="020B0604020202020204" pitchFamily="34" charset="0"/>
              </a:rPr>
              <a:t>س/ في حالة ان العميل ابلغ ان الفاتورة على المستأجرين وطلب قطع التيار يتم التوضيح :</a:t>
            </a:r>
            <a:endParaRPr lang="en-US" sz="1667" dirty="0">
              <a:latin typeface="Arial" panose="020B0604020202020204" pitchFamily="34" charset="0"/>
              <a:cs typeface="Arial" panose="020B0604020202020204" pitchFamily="34" charset="0"/>
            </a:endParaRPr>
          </a:p>
        </p:txBody>
      </p:sp>
      <p:sp>
        <p:nvSpPr>
          <p:cNvPr id="17" name="Text 14"/>
          <p:cNvSpPr/>
          <p:nvPr/>
        </p:nvSpPr>
        <p:spPr>
          <a:xfrm>
            <a:off x="827187" y="3292475"/>
            <a:ext cx="3095030" cy="792063"/>
          </a:xfrm>
          <a:prstGeom prst="rect">
            <a:avLst/>
          </a:prstGeom>
          <a:noFill/>
          <a:ln/>
        </p:spPr>
        <p:txBody>
          <a:bodyPr wrap="square" lIns="0" tIns="0" rIns="0" bIns="0" rtlCol="0" anchor="t"/>
          <a:lstStyle/>
          <a:p>
            <a:pPr algn="r" rtl="1">
              <a:lnSpc>
                <a:spcPts val="2042"/>
              </a:lnSpc>
            </a:pPr>
            <a:r>
              <a:rPr lang="en-US" sz="1333" dirty="0">
                <a:solidFill>
                  <a:srgbClr val="272525"/>
                </a:solidFill>
                <a:latin typeface="Arial" panose="020B0604020202020204" pitchFamily="34" charset="0"/>
                <a:ea typeface="Inter" pitchFamily="34" charset="-122"/>
                <a:cs typeface="Arial" panose="020B0604020202020204" pitchFamily="34" charset="0"/>
              </a:rPr>
              <a:t>ج/ قطع الكهرباء مو بحل واننا قسم تحصيل والفاتورة مستحقة السداد - أو ما عندنا صلاحية نحن قسم مطالبات.</a:t>
            </a:r>
            <a:endParaRPr lang="en-US" sz="1333" dirty="0">
              <a:latin typeface="Arial" panose="020B0604020202020204" pitchFamily="34" charset="0"/>
              <a:cs typeface="Arial" panose="020B0604020202020204" pitchFamily="34" charset="0"/>
            </a:endParaRPr>
          </a:p>
        </p:txBody>
      </p:sp>
      <p:sp>
        <p:nvSpPr>
          <p:cNvPr id="18" name="Text 15"/>
          <p:cNvSpPr/>
          <p:nvPr/>
        </p:nvSpPr>
        <p:spPr>
          <a:xfrm>
            <a:off x="827187" y="4178994"/>
            <a:ext cx="3095030" cy="792063"/>
          </a:xfrm>
          <a:prstGeom prst="rect">
            <a:avLst/>
          </a:prstGeom>
          <a:noFill/>
          <a:ln/>
        </p:spPr>
        <p:txBody>
          <a:bodyPr wrap="square" lIns="0" tIns="0" rIns="0" bIns="0" rtlCol="0" anchor="t"/>
          <a:lstStyle/>
          <a:p>
            <a:pPr algn="r" rtl="1">
              <a:lnSpc>
                <a:spcPts val="2042"/>
              </a:lnSpc>
            </a:pPr>
            <a:r>
              <a:rPr lang="en-US" sz="1333" dirty="0">
                <a:solidFill>
                  <a:srgbClr val="272525"/>
                </a:solidFill>
                <a:latin typeface="Arial" panose="020B0604020202020204" pitchFamily="34" charset="0"/>
                <a:ea typeface="Inter" pitchFamily="34" charset="-122"/>
                <a:cs typeface="Arial" panose="020B0604020202020204" pitchFamily="34" charset="0"/>
              </a:rPr>
              <a:t>ج2/ تواصلنا معك مو بخصوص قطع الكهرباء. </a:t>
            </a:r>
            <a:r>
              <a:rPr lang="en-US" sz="1333" dirty="0" err="1">
                <a:solidFill>
                  <a:srgbClr val="272525"/>
                </a:solidFill>
                <a:latin typeface="Arial" panose="020B0604020202020204" pitchFamily="34" charset="0"/>
                <a:ea typeface="Inter" pitchFamily="34" charset="-122"/>
                <a:cs typeface="Arial" panose="020B0604020202020204" pitchFamily="34" charset="0"/>
              </a:rPr>
              <a:t>نحن</a:t>
            </a:r>
            <a:r>
              <a:rPr lang="en-US" sz="1333" dirty="0">
                <a:solidFill>
                  <a:srgbClr val="272525"/>
                </a:solidFill>
                <a:latin typeface="Arial" panose="020B0604020202020204" pitchFamily="34" charset="0"/>
                <a:ea typeface="Inter" pitchFamily="34" charset="-122"/>
                <a:cs typeface="Arial" panose="020B0604020202020204" pitchFamily="34" charset="0"/>
              </a:rPr>
              <a:t> ن</a:t>
            </a:r>
            <a:r>
              <a:rPr lang="ar-EG" sz="1333" dirty="0">
                <a:solidFill>
                  <a:srgbClr val="272525"/>
                </a:solidFill>
                <a:latin typeface="Arial" panose="020B0604020202020204" pitchFamily="34" charset="0"/>
                <a:ea typeface="Inter" pitchFamily="34" charset="-122"/>
                <a:cs typeface="Arial" panose="020B0604020202020204" pitchFamily="34" charset="0"/>
              </a:rPr>
              <a:t>   </a:t>
            </a:r>
            <a:r>
              <a:rPr lang="en-US" sz="1333" dirty="0" err="1">
                <a:solidFill>
                  <a:srgbClr val="272525"/>
                </a:solidFill>
                <a:latin typeface="Arial" panose="020B0604020202020204" pitchFamily="34" charset="0"/>
                <a:ea typeface="Inter" pitchFamily="34" charset="-122"/>
                <a:cs typeface="Arial" panose="020B0604020202020204" pitchFamily="34" charset="0"/>
              </a:rPr>
              <a:t>تواصل</a:t>
            </a:r>
            <a:r>
              <a:rPr lang="en-US" sz="1333" dirty="0">
                <a:solidFill>
                  <a:srgbClr val="272525"/>
                </a:solidFill>
                <a:latin typeface="Arial" panose="020B0604020202020204" pitchFamily="34" charset="0"/>
                <a:ea typeface="Inter" pitchFamily="34" charset="-122"/>
                <a:cs typeface="Arial" panose="020B0604020202020204" pitchFamily="34" charset="0"/>
              </a:rPr>
              <a:t> معك بان هذه الفاتورة عليها مبلغ مستحق السداد.</a:t>
            </a:r>
            <a:endParaRPr lang="en-US" sz="1333" dirty="0">
              <a:latin typeface="Arial" panose="020B0604020202020204" pitchFamily="34" charset="0"/>
              <a:cs typeface="Arial" panose="020B0604020202020204" pitchFamily="34" charset="0"/>
            </a:endParaRPr>
          </a:p>
        </p:txBody>
      </p:sp>
      <p:sp>
        <p:nvSpPr>
          <p:cNvPr id="19" name="Text 16"/>
          <p:cNvSpPr/>
          <p:nvPr/>
        </p:nvSpPr>
        <p:spPr>
          <a:xfrm>
            <a:off x="827187" y="5065515"/>
            <a:ext cx="3095030" cy="1056084"/>
          </a:xfrm>
          <a:prstGeom prst="rect">
            <a:avLst/>
          </a:prstGeom>
          <a:noFill/>
          <a:ln/>
        </p:spPr>
        <p:txBody>
          <a:bodyPr wrap="square" lIns="0" tIns="0" rIns="0" bIns="0" rtlCol="0" anchor="t"/>
          <a:lstStyle/>
          <a:p>
            <a:pPr algn="r" rtl="1">
              <a:lnSpc>
                <a:spcPts val="2042"/>
              </a:lnSpc>
            </a:pPr>
            <a:r>
              <a:rPr lang="en-US" sz="1333" dirty="0">
                <a:solidFill>
                  <a:srgbClr val="272525"/>
                </a:solidFill>
                <a:latin typeface="Arial" panose="020B0604020202020204" pitchFamily="34" charset="0"/>
                <a:ea typeface="Inter" pitchFamily="34" charset="-122"/>
                <a:cs typeface="Arial" panose="020B0604020202020204" pitchFamily="34" charset="0"/>
              </a:rPr>
              <a:t>ج3/ قطع الكهرباء مو من إختصاصنا يا غالي . الاشياء الفنيه هذه بتتواصل مع </a:t>
            </a:r>
            <a:r>
              <a:rPr lang="en-US" sz="1333" dirty="0" err="1">
                <a:solidFill>
                  <a:srgbClr val="272525"/>
                </a:solidFill>
                <a:latin typeface="Arial" panose="020B0604020202020204" pitchFamily="34" charset="0"/>
                <a:ea typeface="Inter" pitchFamily="34" charset="-122"/>
                <a:cs typeface="Arial" panose="020B0604020202020204" pitchFamily="34" charset="0"/>
              </a:rPr>
              <a:t>الدعم</a:t>
            </a:r>
            <a:r>
              <a:rPr lang="en-US" sz="1333" dirty="0">
                <a:solidFill>
                  <a:srgbClr val="272525"/>
                </a:solidFill>
                <a:latin typeface="Arial" panose="020B0604020202020204" pitchFamily="34" charset="0"/>
                <a:ea typeface="Inter" pitchFamily="34" charset="-122"/>
                <a:cs typeface="Arial" panose="020B0604020202020204" pitchFamily="34" charset="0"/>
              </a:rPr>
              <a:t> </a:t>
            </a:r>
            <a:r>
              <a:rPr lang="en-US" sz="1333" dirty="0" err="1">
                <a:solidFill>
                  <a:srgbClr val="272525"/>
                </a:solidFill>
                <a:latin typeface="Arial" panose="020B0604020202020204" pitchFamily="34" charset="0"/>
                <a:ea typeface="Inter" pitchFamily="34" charset="-122"/>
                <a:cs typeface="Arial" panose="020B0604020202020204" pitchFamily="34" charset="0"/>
              </a:rPr>
              <a:t>الفن</a:t>
            </a:r>
            <a:r>
              <a:rPr lang="ar-EG" sz="1333" dirty="0">
                <a:solidFill>
                  <a:srgbClr val="272525"/>
                </a:solidFill>
                <a:latin typeface="Arial" panose="020B0604020202020204" pitchFamily="34" charset="0"/>
                <a:ea typeface="Inter" pitchFamily="34" charset="-122"/>
                <a:cs typeface="Arial" panose="020B0604020202020204" pitchFamily="34" charset="0"/>
              </a:rPr>
              <a:t>ي (</a:t>
            </a:r>
            <a:r>
              <a:rPr lang="en-US" sz="1333" dirty="0">
                <a:solidFill>
                  <a:srgbClr val="272525"/>
                </a:solidFill>
                <a:latin typeface="Arial" panose="020B0604020202020204" pitchFamily="34" charset="0"/>
                <a:ea typeface="Inter" pitchFamily="34" charset="-122"/>
                <a:cs typeface="Arial" panose="020B0604020202020204" pitchFamily="34" charset="0"/>
              </a:rPr>
              <a:t>933</a:t>
            </a:r>
            <a:r>
              <a:rPr lang="ar-EG" sz="1333" dirty="0">
                <a:solidFill>
                  <a:srgbClr val="272525"/>
                </a:solidFill>
                <a:latin typeface="Arial" panose="020B0604020202020204" pitchFamily="34" charset="0"/>
                <a:ea typeface="Inter" pitchFamily="34" charset="-122"/>
                <a:cs typeface="Arial" panose="020B0604020202020204" pitchFamily="34" charset="0"/>
              </a:rPr>
              <a:t>) </a:t>
            </a:r>
            <a:r>
              <a:rPr lang="en-US" sz="1333" dirty="0">
                <a:solidFill>
                  <a:srgbClr val="272525"/>
                </a:solidFill>
                <a:latin typeface="Arial" panose="020B0604020202020204" pitchFamily="34" charset="0"/>
                <a:ea typeface="Inter" pitchFamily="34" charset="-122"/>
                <a:cs typeface="Arial" panose="020B0604020202020204" pitchFamily="34" charset="0"/>
              </a:rPr>
              <a:t> يفيدونك اكثر . حنا نتواصل معك على مبلغ الفاتورة.</a:t>
            </a:r>
            <a:endParaRPr lang="en-US" sz="1333" dirty="0">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7E2AFCDA-85A9-4DC3-9400-B5C2EC4E96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850" y="263708"/>
            <a:ext cx="1541483" cy="494509"/>
          </a:xfrm>
          <a:prstGeom prst="rect">
            <a:avLst/>
          </a:prstGeom>
        </p:spPr>
      </p:pic>
      <p:pic>
        <p:nvPicPr>
          <p:cNvPr id="21" name="Graphic 20">
            <a:extLst>
              <a:ext uri="{FF2B5EF4-FFF2-40B4-BE49-F238E27FC236}">
                <a16:creationId xmlns:a16="http://schemas.microsoft.com/office/drawing/2014/main" id="{6744F964-0A75-4408-A39E-D0ABC7B0DEEE}"/>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5552" y="75050"/>
            <a:ext cx="1023679" cy="884875"/>
          </a:xfrm>
          <a:prstGeom prst="rect">
            <a:avLst/>
          </a:prstGeom>
        </p:spPr>
      </p:pic>
      <p:sp>
        <p:nvSpPr>
          <p:cNvPr id="22" name="Rectangle 21">
            <a:extLst>
              <a:ext uri="{FF2B5EF4-FFF2-40B4-BE49-F238E27FC236}">
                <a16:creationId xmlns:a16="http://schemas.microsoft.com/office/drawing/2014/main" id="{043FE265-C72E-4263-B46E-1AB40E431B5C}"/>
              </a:ext>
            </a:extLst>
          </p:cNvPr>
          <p:cNvSpPr/>
          <p:nvPr/>
        </p:nvSpPr>
        <p:spPr>
          <a:xfrm>
            <a:off x="1929760" y="122007"/>
            <a:ext cx="45719" cy="777909"/>
          </a:xfrm>
          <a:prstGeom prst="rect">
            <a:avLst/>
          </a:prstGeom>
          <a:solidFill>
            <a:srgbClr val="008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794724" y="1279030"/>
            <a:ext cx="3775472" cy="471884"/>
          </a:xfrm>
          <a:prstGeom prst="rect">
            <a:avLst/>
          </a:prstGeom>
          <a:noFill/>
          <a:ln/>
        </p:spPr>
        <p:txBody>
          <a:bodyPr wrap="none" lIns="0" tIns="0" rIns="0" bIns="0" rtlCol="0" anchor="t"/>
          <a:lstStyle/>
          <a:p>
            <a:pPr algn="r" rtl="1">
              <a:lnSpc>
                <a:spcPts val="3708"/>
              </a:lnSpc>
            </a:pPr>
            <a:r>
              <a:rPr lang="en-US" sz="2958" b="1" u="sng" dirty="0">
                <a:solidFill>
                  <a:srgbClr val="000000"/>
                </a:solidFill>
                <a:latin typeface="Arial" panose="020B0604020202020204" pitchFamily="34" charset="0"/>
                <a:ea typeface="Inter Bold" pitchFamily="34" charset="-122"/>
                <a:cs typeface="Arial" panose="020B0604020202020204" pitchFamily="34" charset="0"/>
              </a:rPr>
              <a:t>في حالة أن العميل سأل</a:t>
            </a:r>
            <a:r>
              <a:rPr lang="ar-EG" sz="2958" b="1" u="sng" dirty="0">
                <a:solidFill>
                  <a:srgbClr val="000000"/>
                </a:solidFill>
                <a:latin typeface="Arial" panose="020B0604020202020204" pitchFamily="34" charset="0"/>
                <a:ea typeface="Inter Bold" pitchFamily="34" charset="-122"/>
                <a:cs typeface="Arial" panose="020B0604020202020204" pitchFamily="34" charset="0"/>
              </a:rPr>
              <a:t>؟</a:t>
            </a:r>
            <a:endParaRPr lang="en-US" sz="2958" u="sng" dirty="0">
              <a:latin typeface="Arial" panose="020B0604020202020204" pitchFamily="34" charset="0"/>
              <a:cs typeface="Arial" panose="020B0604020202020204" pitchFamily="34" charset="0"/>
            </a:endParaRPr>
          </a:p>
        </p:txBody>
      </p:sp>
      <p:sp>
        <p:nvSpPr>
          <p:cNvPr id="4" name="Shape 1"/>
          <p:cNvSpPr/>
          <p:nvPr/>
        </p:nvSpPr>
        <p:spPr>
          <a:xfrm>
            <a:off x="8001199" y="1931889"/>
            <a:ext cx="3568998" cy="2732286"/>
          </a:xfrm>
          <a:prstGeom prst="roundRect">
            <a:avLst>
              <a:gd name="adj" fmla="val 3347"/>
            </a:avLst>
          </a:prstGeom>
          <a:solidFill>
            <a:srgbClr val="FFFFFF"/>
          </a:solidFill>
          <a:ln w="22860">
            <a:solidFill>
              <a:srgbClr val="C0C1D7"/>
            </a:solidFill>
            <a:prstDash val="solid"/>
          </a:ln>
        </p:spPr>
      </p:sp>
      <p:sp>
        <p:nvSpPr>
          <p:cNvPr id="5" name="Shape 2"/>
          <p:cNvSpPr/>
          <p:nvPr/>
        </p:nvSpPr>
        <p:spPr>
          <a:xfrm>
            <a:off x="11513046" y="1931889"/>
            <a:ext cx="76200" cy="2732286"/>
          </a:xfrm>
          <a:prstGeom prst="roundRect">
            <a:avLst>
              <a:gd name="adj" fmla="val 83240"/>
            </a:avLst>
          </a:prstGeom>
          <a:solidFill>
            <a:srgbClr val="4950BC"/>
          </a:solidFill>
          <a:ln/>
        </p:spPr>
      </p:sp>
      <p:sp>
        <p:nvSpPr>
          <p:cNvPr id="6" name="Text 3"/>
          <p:cNvSpPr/>
          <p:nvPr/>
        </p:nvSpPr>
        <p:spPr>
          <a:xfrm>
            <a:off x="8171656" y="2101949"/>
            <a:ext cx="3171329" cy="235943"/>
          </a:xfrm>
          <a:prstGeom prst="rect">
            <a:avLst/>
          </a:prstGeom>
          <a:noFill/>
          <a:ln/>
        </p:spPr>
        <p:txBody>
          <a:bodyPr wrap="none" lIns="0" tIns="0" rIns="0" bIns="0" rtlCol="0" anchor="t"/>
          <a:lstStyle/>
          <a:p>
            <a:pPr algn="r" rtl="1">
              <a:lnSpc>
                <a:spcPts val="1833"/>
              </a:lnSpc>
            </a:pPr>
            <a:r>
              <a:rPr lang="en-US" sz="1458" b="1" dirty="0">
                <a:solidFill>
                  <a:srgbClr val="272525"/>
                </a:solidFill>
                <a:latin typeface="Arial" panose="020B0604020202020204" pitchFamily="34" charset="0"/>
                <a:ea typeface="Inter Bold" pitchFamily="34" charset="-122"/>
                <a:cs typeface="Arial" panose="020B0604020202020204" pitchFamily="34" charset="0"/>
              </a:rPr>
              <a:t>س/ في حالة ذكر العميل أن العداد مفصول؟</a:t>
            </a:r>
            <a:endParaRPr lang="en-US" sz="1458" dirty="0">
              <a:latin typeface="Arial" panose="020B0604020202020204" pitchFamily="34" charset="0"/>
              <a:cs typeface="Arial" panose="020B0604020202020204" pitchFamily="34" charset="0"/>
            </a:endParaRPr>
          </a:p>
        </p:txBody>
      </p:sp>
      <p:sp>
        <p:nvSpPr>
          <p:cNvPr id="7" name="Text 4"/>
          <p:cNvSpPr/>
          <p:nvPr/>
        </p:nvSpPr>
        <p:spPr>
          <a:xfrm>
            <a:off x="8171260" y="2410222"/>
            <a:ext cx="3171726" cy="434578"/>
          </a:xfrm>
          <a:prstGeom prst="rect">
            <a:avLst/>
          </a:prstGeom>
          <a:noFill/>
          <a:ln/>
        </p:spPr>
        <p:txBody>
          <a:bodyPr wrap="square" lIns="0" tIns="0" rIns="0" bIns="0" rtlCol="0" anchor="t"/>
          <a:lstStyle/>
          <a:p>
            <a:pPr algn="r" rtl="1">
              <a:lnSpc>
                <a:spcPts val="1708"/>
              </a:lnSpc>
            </a:pPr>
            <a:r>
              <a:rPr lang="en-US" sz="1200" dirty="0">
                <a:solidFill>
                  <a:srgbClr val="272525"/>
                </a:solidFill>
                <a:latin typeface="Arial" panose="020B0604020202020204" pitchFamily="34" charset="0"/>
                <a:ea typeface="Inter" pitchFamily="34" charset="-122"/>
                <a:cs typeface="Arial" panose="020B0604020202020204" pitchFamily="34" charset="0"/>
              </a:rPr>
              <a:t>ج/ يتم التوضيح أن الفاتورة مستحقة وأنه يوجد رسوم خدمة عداد ولذلك المبلغ سيتراكم.</a:t>
            </a:r>
            <a:endParaRPr lang="en-US" sz="1200" dirty="0">
              <a:latin typeface="Arial" panose="020B0604020202020204" pitchFamily="34" charset="0"/>
              <a:cs typeface="Arial" panose="020B0604020202020204" pitchFamily="34" charset="0"/>
            </a:endParaRPr>
          </a:p>
        </p:txBody>
      </p:sp>
      <p:sp>
        <p:nvSpPr>
          <p:cNvPr id="8" name="Text 5"/>
          <p:cNvSpPr/>
          <p:nvPr/>
        </p:nvSpPr>
        <p:spPr>
          <a:xfrm>
            <a:off x="8171260" y="2917131"/>
            <a:ext cx="3171726" cy="434578"/>
          </a:xfrm>
          <a:prstGeom prst="rect">
            <a:avLst/>
          </a:prstGeom>
          <a:noFill/>
          <a:ln/>
        </p:spPr>
        <p:txBody>
          <a:bodyPr wrap="square" lIns="0" tIns="0" rIns="0" bIns="0" rtlCol="0" anchor="t"/>
          <a:lstStyle/>
          <a:p>
            <a:pPr algn="r" rtl="1">
              <a:lnSpc>
                <a:spcPts val="1708"/>
              </a:lnSpc>
            </a:pPr>
            <a:r>
              <a:rPr lang="en-US" sz="1200" dirty="0">
                <a:solidFill>
                  <a:srgbClr val="272525"/>
                </a:solidFill>
                <a:latin typeface="Arial" panose="020B0604020202020204" pitchFamily="34" charset="0"/>
                <a:ea typeface="Inter" pitchFamily="34" charset="-122"/>
                <a:cs typeface="Arial" panose="020B0604020202020204" pitchFamily="34" charset="0"/>
              </a:rPr>
              <a:t>ج2/ نعم استاذي الفاضل واضح لي أنه مفصول ولكن أتواصل معك بخصوص المبلغ المستحق.</a:t>
            </a:r>
            <a:endParaRPr lang="en-US" sz="1200" dirty="0">
              <a:latin typeface="Arial" panose="020B0604020202020204" pitchFamily="34" charset="0"/>
              <a:cs typeface="Arial" panose="020B0604020202020204" pitchFamily="34" charset="0"/>
            </a:endParaRPr>
          </a:p>
        </p:txBody>
      </p:sp>
      <p:sp>
        <p:nvSpPr>
          <p:cNvPr id="9" name="Shape 6"/>
          <p:cNvSpPr/>
          <p:nvPr/>
        </p:nvSpPr>
        <p:spPr>
          <a:xfrm>
            <a:off x="4311551" y="1931889"/>
            <a:ext cx="3568998" cy="2732286"/>
          </a:xfrm>
          <a:prstGeom prst="roundRect">
            <a:avLst>
              <a:gd name="adj" fmla="val 3347"/>
            </a:avLst>
          </a:prstGeom>
          <a:solidFill>
            <a:srgbClr val="FFFFFF"/>
          </a:solidFill>
          <a:ln w="22860">
            <a:solidFill>
              <a:srgbClr val="C0C1D7"/>
            </a:solidFill>
            <a:prstDash val="solid"/>
          </a:ln>
        </p:spPr>
      </p:sp>
      <p:sp>
        <p:nvSpPr>
          <p:cNvPr id="10" name="Shape 7"/>
          <p:cNvSpPr/>
          <p:nvPr/>
        </p:nvSpPr>
        <p:spPr>
          <a:xfrm>
            <a:off x="7823398" y="1931889"/>
            <a:ext cx="76200" cy="2732286"/>
          </a:xfrm>
          <a:prstGeom prst="roundRect">
            <a:avLst>
              <a:gd name="adj" fmla="val 83240"/>
            </a:avLst>
          </a:prstGeom>
          <a:solidFill>
            <a:srgbClr val="4950BC"/>
          </a:solidFill>
          <a:ln/>
        </p:spPr>
      </p:sp>
      <p:sp>
        <p:nvSpPr>
          <p:cNvPr id="11" name="Text 8"/>
          <p:cNvSpPr/>
          <p:nvPr/>
        </p:nvSpPr>
        <p:spPr>
          <a:xfrm>
            <a:off x="4481612" y="2101950"/>
            <a:ext cx="3171726" cy="943769"/>
          </a:xfrm>
          <a:prstGeom prst="rect">
            <a:avLst/>
          </a:prstGeom>
          <a:noFill/>
          <a:ln/>
        </p:spPr>
        <p:txBody>
          <a:bodyPr wrap="square" lIns="0" tIns="0" rIns="0" bIns="0" rtlCol="0" anchor="t"/>
          <a:lstStyle/>
          <a:p>
            <a:pPr algn="r" rtl="1">
              <a:lnSpc>
                <a:spcPts val="1833"/>
              </a:lnSpc>
            </a:pPr>
            <a:r>
              <a:rPr lang="en-US" sz="1458" b="1" dirty="0">
                <a:solidFill>
                  <a:srgbClr val="272525"/>
                </a:solidFill>
                <a:latin typeface="Arial" panose="020B0604020202020204" pitchFamily="34" charset="0"/>
                <a:ea typeface="Inter Bold" pitchFamily="34" charset="-122"/>
                <a:cs typeface="Arial" panose="020B0604020202020204" pitchFamily="34" charset="0"/>
              </a:rPr>
              <a:t>س/ في حالة أن العميل كان يرغب في معرفة تفاصيل فاتورة ويريد إعطاء الموظف رقم حساب مختلف عن الرقم المتواجد على السيستم؟</a:t>
            </a:r>
            <a:endParaRPr lang="en-US" sz="1458" dirty="0">
              <a:latin typeface="Arial" panose="020B0604020202020204" pitchFamily="34" charset="0"/>
              <a:cs typeface="Arial" panose="020B0604020202020204" pitchFamily="34" charset="0"/>
            </a:endParaRPr>
          </a:p>
        </p:txBody>
      </p:sp>
      <p:sp>
        <p:nvSpPr>
          <p:cNvPr id="12" name="Text 9"/>
          <p:cNvSpPr/>
          <p:nvPr/>
        </p:nvSpPr>
        <p:spPr>
          <a:xfrm>
            <a:off x="4481612" y="3118049"/>
            <a:ext cx="3171726" cy="651868"/>
          </a:xfrm>
          <a:prstGeom prst="rect">
            <a:avLst/>
          </a:prstGeom>
          <a:noFill/>
          <a:ln/>
        </p:spPr>
        <p:txBody>
          <a:bodyPr wrap="square" lIns="0" tIns="0" rIns="0" bIns="0" rtlCol="0" anchor="t"/>
          <a:lstStyle/>
          <a:p>
            <a:pPr algn="r" rtl="1">
              <a:lnSpc>
                <a:spcPts val="1708"/>
              </a:lnSpc>
            </a:pPr>
            <a:r>
              <a:rPr lang="en-US" sz="1200" dirty="0">
                <a:solidFill>
                  <a:srgbClr val="272525"/>
                </a:solidFill>
                <a:latin typeface="Arial" panose="020B0604020202020204" pitchFamily="34" charset="0"/>
                <a:ea typeface="Inter" pitchFamily="34" charset="-122"/>
                <a:cs typeface="Arial" panose="020B0604020202020204" pitchFamily="34" charset="0"/>
              </a:rPr>
              <a:t>ج/ يتم التوضيح بأن الفاتورة المستحقة هي الفاتورة التي تم توضيحها، ممكن التواصل مع الدعم الفني 933 لمعرفة تفاصيل الفاتورة الأخرى.</a:t>
            </a:r>
            <a:endParaRPr lang="en-US" sz="1200" dirty="0">
              <a:latin typeface="Arial" panose="020B0604020202020204" pitchFamily="34" charset="0"/>
              <a:cs typeface="Arial" panose="020B0604020202020204" pitchFamily="34" charset="0"/>
            </a:endParaRPr>
          </a:p>
        </p:txBody>
      </p:sp>
      <p:sp>
        <p:nvSpPr>
          <p:cNvPr id="13" name="Text 10"/>
          <p:cNvSpPr/>
          <p:nvPr/>
        </p:nvSpPr>
        <p:spPr>
          <a:xfrm>
            <a:off x="4481612" y="3842246"/>
            <a:ext cx="3171726" cy="651868"/>
          </a:xfrm>
          <a:prstGeom prst="rect">
            <a:avLst/>
          </a:prstGeom>
          <a:noFill/>
          <a:ln/>
        </p:spPr>
        <p:txBody>
          <a:bodyPr wrap="square" lIns="0" tIns="0" rIns="0" bIns="0" rtlCol="0" anchor="t"/>
          <a:lstStyle/>
          <a:p>
            <a:pPr algn="r" rtl="1">
              <a:lnSpc>
                <a:spcPts val="1708"/>
              </a:lnSpc>
            </a:pPr>
            <a:r>
              <a:rPr lang="en-US" sz="1200" dirty="0">
                <a:solidFill>
                  <a:srgbClr val="272525"/>
                </a:solidFill>
                <a:latin typeface="Arial" panose="020B0604020202020204" pitchFamily="34" charset="0"/>
                <a:ea typeface="Inter" pitchFamily="34" charset="-122"/>
                <a:cs typeface="Arial" panose="020B0604020202020204" pitchFamily="34" charset="0"/>
              </a:rPr>
              <a:t>ج2/ إذا عندك استفسار بخصوص فواتير أخرى تقدر تتأكد عن طريق تطبيق الشركة السعودية للطاقة أو موقع الشركة السعودية للطاقة.</a:t>
            </a:r>
            <a:endParaRPr lang="en-US" sz="1200" dirty="0">
              <a:latin typeface="Arial" panose="020B0604020202020204" pitchFamily="34" charset="0"/>
              <a:cs typeface="Arial" panose="020B0604020202020204" pitchFamily="34" charset="0"/>
            </a:endParaRPr>
          </a:p>
        </p:txBody>
      </p:sp>
      <p:sp>
        <p:nvSpPr>
          <p:cNvPr id="14" name="Shape 11"/>
          <p:cNvSpPr/>
          <p:nvPr/>
        </p:nvSpPr>
        <p:spPr>
          <a:xfrm>
            <a:off x="621904" y="1931889"/>
            <a:ext cx="3568998" cy="2732286"/>
          </a:xfrm>
          <a:prstGeom prst="roundRect">
            <a:avLst>
              <a:gd name="adj" fmla="val 3347"/>
            </a:avLst>
          </a:prstGeom>
          <a:solidFill>
            <a:srgbClr val="FFFFFF"/>
          </a:solidFill>
          <a:ln w="22860">
            <a:solidFill>
              <a:srgbClr val="C0C1D7"/>
            </a:solidFill>
            <a:prstDash val="solid"/>
          </a:ln>
        </p:spPr>
      </p:sp>
      <p:sp>
        <p:nvSpPr>
          <p:cNvPr id="15" name="Shape 12"/>
          <p:cNvSpPr/>
          <p:nvPr/>
        </p:nvSpPr>
        <p:spPr>
          <a:xfrm>
            <a:off x="4133751" y="1931889"/>
            <a:ext cx="76200" cy="2732286"/>
          </a:xfrm>
          <a:prstGeom prst="roundRect">
            <a:avLst>
              <a:gd name="adj" fmla="val 83240"/>
            </a:avLst>
          </a:prstGeom>
          <a:solidFill>
            <a:srgbClr val="4950BC"/>
          </a:solidFill>
          <a:ln/>
        </p:spPr>
      </p:sp>
      <p:sp>
        <p:nvSpPr>
          <p:cNvPr id="16" name="Text 13"/>
          <p:cNvSpPr/>
          <p:nvPr/>
        </p:nvSpPr>
        <p:spPr>
          <a:xfrm>
            <a:off x="791965" y="2101950"/>
            <a:ext cx="3171726" cy="471884"/>
          </a:xfrm>
          <a:prstGeom prst="rect">
            <a:avLst/>
          </a:prstGeom>
          <a:noFill/>
          <a:ln/>
        </p:spPr>
        <p:txBody>
          <a:bodyPr wrap="square" lIns="0" tIns="0" rIns="0" bIns="0" rtlCol="0" anchor="t"/>
          <a:lstStyle/>
          <a:p>
            <a:pPr algn="r" rtl="1">
              <a:lnSpc>
                <a:spcPts val="1833"/>
              </a:lnSpc>
            </a:pPr>
            <a:r>
              <a:rPr lang="en-US" sz="1458" b="1" dirty="0">
                <a:solidFill>
                  <a:srgbClr val="272525"/>
                </a:solidFill>
                <a:latin typeface="Arial" panose="020B0604020202020204" pitchFamily="34" charset="0"/>
                <a:ea typeface="Inter Bold" pitchFamily="34" charset="-122"/>
                <a:cs typeface="Arial" panose="020B0604020202020204" pitchFamily="34" charset="0"/>
              </a:rPr>
              <a:t>س/ عند طلب العميل إرسال التفاصيل عبر واتساب للتأكد؟</a:t>
            </a:r>
            <a:endParaRPr lang="en-US" sz="1458" dirty="0">
              <a:latin typeface="Arial" panose="020B0604020202020204" pitchFamily="34" charset="0"/>
              <a:cs typeface="Arial" panose="020B0604020202020204" pitchFamily="34" charset="0"/>
            </a:endParaRPr>
          </a:p>
        </p:txBody>
      </p:sp>
      <p:sp>
        <p:nvSpPr>
          <p:cNvPr id="17" name="Text 14"/>
          <p:cNvSpPr/>
          <p:nvPr/>
        </p:nvSpPr>
        <p:spPr>
          <a:xfrm>
            <a:off x="791965" y="2646164"/>
            <a:ext cx="3171726" cy="651868"/>
          </a:xfrm>
          <a:prstGeom prst="rect">
            <a:avLst/>
          </a:prstGeom>
          <a:noFill/>
          <a:ln/>
        </p:spPr>
        <p:txBody>
          <a:bodyPr wrap="square" lIns="0" tIns="0" rIns="0" bIns="0" rtlCol="0" anchor="t"/>
          <a:lstStyle/>
          <a:p>
            <a:pPr algn="r" rtl="1">
              <a:lnSpc>
                <a:spcPts val="1708"/>
              </a:lnSpc>
            </a:pPr>
            <a:r>
              <a:rPr lang="en-US" sz="1200" dirty="0">
                <a:solidFill>
                  <a:srgbClr val="272525"/>
                </a:solidFill>
                <a:latin typeface="Arial" panose="020B0604020202020204" pitchFamily="34" charset="0"/>
                <a:ea typeface="Inter" pitchFamily="34" charset="-122"/>
                <a:cs typeface="Arial" panose="020B0604020202020204" pitchFamily="34" charset="0"/>
              </a:rPr>
              <a:t>ج/ أستاذي الفاضل لا يوجد تواصل للشركة السعودية للطاقة عبر الواتساب. التواصل من خلال الرسائل النصية أو المكالمات الهاتفية فقط.</a:t>
            </a:r>
            <a:endParaRPr lang="en-US" sz="1200" dirty="0">
              <a:latin typeface="Arial" panose="020B0604020202020204" pitchFamily="34" charset="0"/>
              <a:cs typeface="Arial" panose="020B0604020202020204" pitchFamily="34" charset="0"/>
            </a:endParaRPr>
          </a:p>
        </p:txBody>
      </p:sp>
      <p:sp>
        <p:nvSpPr>
          <p:cNvPr id="18" name="Text 15"/>
          <p:cNvSpPr/>
          <p:nvPr/>
        </p:nvSpPr>
        <p:spPr>
          <a:xfrm>
            <a:off x="791965" y="3370362"/>
            <a:ext cx="3171726" cy="651868"/>
          </a:xfrm>
          <a:prstGeom prst="rect">
            <a:avLst/>
          </a:prstGeom>
          <a:noFill/>
          <a:ln/>
        </p:spPr>
        <p:txBody>
          <a:bodyPr wrap="square" lIns="0" tIns="0" rIns="0" bIns="0" rtlCol="0" anchor="t"/>
          <a:lstStyle/>
          <a:p>
            <a:pPr algn="r" rtl="1">
              <a:lnSpc>
                <a:spcPts val="1708"/>
              </a:lnSpc>
            </a:pPr>
            <a:r>
              <a:rPr lang="en-US" sz="1200" dirty="0">
                <a:solidFill>
                  <a:srgbClr val="272525"/>
                </a:solidFill>
                <a:latin typeface="Arial" panose="020B0604020202020204" pitchFamily="34" charset="0"/>
                <a:ea typeface="Inter" pitchFamily="34" charset="-122"/>
                <a:cs typeface="Arial" panose="020B0604020202020204" pitchFamily="34" charset="0"/>
              </a:rPr>
              <a:t>ج2/ إذا العميل أصر يتم التأكد من أن رقم العميل هو نفس رقم الواتساب التابع له في خلال المكالمة، ويتم إرسال البيانات بعد ذلك.</a:t>
            </a:r>
            <a:endParaRPr lang="en-US" sz="1200" dirty="0">
              <a:latin typeface="Arial" panose="020B0604020202020204" pitchFamily="34" charset="0"/>
              <a:cs typeface="Arial" panose="020B0604020202020204" pitchFamily="34" charset="0"/>
            </a:endParaRPr>
          </a:p>
        </p:txBody>
      </p:sp>
      <p:sp>
        <p:nvSpPr>
          <p:cNvPr id="19" name="Shape 16"/>
          <p:cNvSpPr/>
          <p:nvPr/>
        </p:nvSpPr>
        <p:spPr>
          <a:xfrm>
            <a:off x="8001199" y="4784825"/>
            <a:ext cx="3568998" cy="1536204"/>
          </a:xfrm>
          <a:prstGeom prst="roundRect">
            <a:avLst>
              <a:gd name="adj" fmla="val 5952"/>
            </a:avLst>
          </a:prstGeom>
          <a:solidFill>
            <a:srgbClr val="FFFFFF"/>
          </a:solidFill>
          <a:ln w="22860">
            <a:solidFill>
              <a:srgbClr val="C0C1D7"/>
            </a:solidFill>
            <a:prstDash val="solid"/>
          </a:ln>
        </p:spPr>
      </p:sp>
      <p:sp>
        <p:nvSpPr>
          <p:cNvPr id="20" name="Shape 17"/>
          <p:cNvSpPr/>
          <p:nvPr/>
        </p:nvSpPr>
        <p:spPr>
          <a:xfrm>
            <a:off x="11513046" y="4784825"/>
            <a:ext cx="76200" cy="1536204"/>
          </a:xfrm>
          <a:prstGeom prst="roundRect">
            <a:avLst>
              <a:gd name="adj" fmla="val 83240"/>
            </a:avLst>
          </a:prstGeom>
          <a:solidFill>
            <a:srgbClr val="4950BC"/>
          </a:solidFill>
          <a:ln/>
        </p:spPr>
      </p:sp>
      <p:sp>
        <p:nvSpPr>
          <p:cNvPr id="21" name="Text 18"/>
          <p:cNvSpPr/>
          <p:nvPr/>
        </p:nvSpPr>
        <p:spPr>
          <a:xfrm>
            <a:off x="8171260" y="4954886"/>
            <a:ext cx="3171726" cy="471884"/>
          </a:xfrm>
          <a:prstGeom prst="rect">
            <a:avLst/>
          </a:prstGeom>
          <a:noFill/>
          <a:ln/>
        </p:spPr>
        <p:txBody>
          <a:bodyPr wrap="square" lIns="0" tIns="0" rIns="0" bIns="0" rtlCol="0" anchor="t"/>
          <a:lstStyle/>
          <a:p>
            <a:pPr algn="r" rtl="1">
              <a:lnSpc>
                <a:spcPts val="1833"/>
              </a:lnSpc>
            </a:pPr>
            <a:r>
              <a:rPr lang="en-US" sz="1458" b="1" dirty="0">
                <a:solidFill>
                  <a:srgbClr val="272525"/>
                </a:solidFill>
                <a:latin typeface="Arial" panose="020B0604020202020204" pitchFamily="34" charset="0"/>
                <a:ea typeface="Inter Bold" pitchFamily="34" charset="-122"/>
                <a:cs typeface="Arial" panose="020B0604020202020204" pitchFamily="34" charset="0"/>
              </a:rPr>
              <a:t>س/ في حالة سؤال العميل عن موقع الاتصال (أنت بتكلمني من فين)؟</a:t>
            </a:r>
            <a:endParaRPr lang="en-US" sz="1458" dirty="0">
              <a:latin typeface="Arial" panose="020B0604020202020204" pitchFamily="34" charset="0"/>
              <a:cs typeface="Arial" panose="020B0604020202020204" pitchFamily="34" charset="0"/>
            </a:endParaRPr>
          </a:p>
        </p:txBody>
      </p:sp>
      <p:sp>
        <p:nvSpPr>
          <p:cNvPr id="22" name="Text 19"/>
          <p:cNvSpPr/>
          <p:nvPr/>
        </p:nvSpPr>
        <p:spPr>
          <a:xfrm>
            <a:off x="8171260" y="5499101"/>
            <a:ext cx="3171726" cy="217289"/>
          </a:xfrm>
          <a:prstGeom prst="rect">
            <a:avLst/>
          </a:prstGeom>
          <a:noFill/>
          <a:ln/>
        </p:spPr>
        <p:txBody>
          <a:bodyPr wrap="none" lIns="0" tIns="0" rIns="0" bIns="0" rtlCol="0" anchor="t"/>
          <a:lstStyle/>
          <a:p>
            <a:pPr algn="r" rtl="1">
              <a:lnSpc>
                <a:spcPts val="1708"/>
              </a:lnSpc>
            </a:pPr>
            <a:r>
              <a:rPr lang="en-US" sz="1200" dirty="0">
                <a:solidFill>
                  <a:srgbClr val="272525"/>
                </a:solidFill>
                <a:latin typeface="Arial" panose="020B0604020202020204" pitchFamily="34" charset="0"/>
                <a:ea typeface="Inter" pitchFamily="34" charset="-122"/>
                <a:cs typeface="Arial" panose="020B0604020202020204" pitchFamily="34" charset="0"/>
              </a:rPr>
              <a:t>ج/ يتم </a:t>
            </a:r>
            <a:r>
              <a:rPr lang="en-US" sz="1200" dirty="0" err="1">
                <a:solidFill>
                  <a:srgbClr val="272525"/>
                </a:solidFill>
                <a:latin typeface="Arial" panose="020B0604020202020204" pitchFamily="34" charset="0"/>
                <a:ea typeface="Inter" pitchFamily="34" charset="-122"/>
                <a:cs typeface="Arial" panose="020B0604020202020204" pitchFamily="34" charset="0"/>
              </a:rPr>
              <a:t>إبلاغه</a:t>
            </a:r>
            <a:r>
              <a:rPr lang="en-US" sz="1200" dirty="0">
                <a:solidFill>
                  <a:srgbClr val="272525"/>
                </a:solidFill>
                <a:latin typeface="Arial" panose="020B0604020202020204" pitchFamily="34" charset="0"/>
                <a:ea typeface="Inter" pitchFamily="34" charset="-122"/>
                <a:cs typeface="Arial" panose="020B0604020202020204" pitchFamily="34" charset="0"/>
              </a:rPr>
              <a:t> </a:t>
            </a:r>
            <a:r>
              <a:rPr lang="ar-EG" sz="1200" dirty="0">
                <a:solidFill>
                  <a:srgbClr val="272525"/>
                </a:solidFill>
                <a:latin typeface="Arial" panose="020B0604020202020204" pitchFamily="34" charset="0"/>
                <a:ea typeface="Inter" pitchFamily="34" charset="-122"/>
                <a:cs typeface="Arial" panose="020B0604020202020204" pitchFamily="34" charset="0"/>
              </a:rPr>
              <a:t>(</a:t>
            </a:r>
            <a:r>
              <a:rPr lang="en-US" sz="1200" dirty="0" err="1">
                <a:solidFill>
                  <a:srgbClr val="272525"/>
                </a:solidFill>
                <a:latin typeface="Arial" panose="020B0604020202020204" pitchFamily="34" charset="0"/>
                <a:ea typeface="Inter" pitchFamily="34" charset="-122"/>
                <a:cs typeface="Arial" panose="020B0604020202020204" pitchFamily="34" charset="0"/>
              </a:rPr>
              <a:t>من</a:t>
            </a:r>
            <a:r>
              <a:rPr lang="en-US" sz="1200" dirty="0">
                <a:solidFill>
                  <a:srgbClr val="272525"/>
                </a:solidFill>
                <a:latin typeface="Arial" panose="020B0604020202020204" pitchFamily="34" charset="0"/>
                <a:ea typeface="Inter" pitchFamily="34" charset="-122"/>
                <a:cs typeface="Arial" panose="020B0604020202020204" pitchFamily="34" charset="0"/>
              </a:rPr>
              <a:t> </a:t>
            </a:r>
            <a:r>
              <a:rPr lang="en-US" sz="1200" dirty="0" err="1">
                <a:solidFill>
                  <a:srgbClr val="272525"/>
                </a:solidFill>
                <a:latin typeface="Arial" panose="020B0604020202020204" pitchFamily="34" charset="0"/>
                <a:ea typeface="Inter" pitchFamily="34" charset="-122"/>
                <a:cs typeface="Arial" panose="020B0604020202020204" pitchFamily="34" charset="0"/>
              </a:rPr>
              <a:t>قسم</a:t>
            </a:r>
            <a:r>
              <a:rPr lang="en-US" sz="1200" dirty="0">
                <a:solidFill>
                  <a:srgbClr val="272525"/>
                </a:solidFill>
                <a:latin typeface="Arial" panose="020B0604020202020204" pitchFamily="34" charset="0"/>
                <a:ea typeface="Inter" pitchFamily="34" charset="-122"/>
                <a:cs typeface="Arial" panose="020B0604020202020204" pitchFamily="34" charset="0"/>
              </a:rPr>
              <a:t> </a:t>
            </a:r>
            <a:r>
              <a:rPr lang="en-US" sz="1200" dirty="0" err="1">
                <a:solidFill>
                  <a:srgbClr val="272525"/>
                </a:solidFill>
                <a:latin typeface="Arial" panose="020B0604020202020204" pitchFamily="34" charset="0"/>
                <a:ea typeface="Inter" pitchFamily="34" charset="-122"/>
                <a:cs typeface="Arial" panose="020B0604020202020204" pitchFamily="34" charset="0"/>
              </a:rPr>
              <a:t>التحصيل</a:t>
            </a:r>
            <a:r>
              <a:rPr lang="ar-EG" sz="1200" dirty="0">
                <a:solidFill>
                  <a:srgbClr val="272525"/>
                </a:solidFill>
                <a:latin typeface="Arial" panose="020B0604020202020204" pitchFamily="34" charset="0"/>
                <a:ea typeface="Inter"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23" name="Shape 20"/>
          <p:cNvSpPr/>
          <p:nvPr/>
        </p:nvSpPr>
        <p:spPr>
          <a:xfrm>
            <a:off x="4311551" y="4784825"/>
            <a:ext cx="3568998" cy="1536204"/>
          </a:xfrm>
          <a:prstGeom prst="roundRect">
            <a:avLst>
              <a:gd name="adj" fmla="val 5952"/>
            </a:avLst>
          </a:prstGeom>
          <a:solidFill>
            <a:srgbClr val="FFFFFF"/>
          </a:solidFill>
          <a:ln w="22860">
            <a:solidFill>
              <a:srgbClr val="C0C1D7"/>
            </a:solidFill>
            <a:prstDash val="solid"/>
          </a:ln>
        </p:spPr>
      </p:sp>
      <p:sp>
        <p:nvSpPr>
          <p:cNvPr id="24" name="Shape 21"/>
          <p:cNvSpPr/>
          <p:nvPr/>
        </p:nvSpPr>
        <p:spPr>
          <a:xfrm>
            <a:off x="7823398" y="4784825"/>
            <a:ext cx="76200" cy="1536204"/>
          </a:xfrm>
          <a:prstGeom prst="roundRect">
            <a:avLst>
              <a:gd name="adj" fmla="val 83240"/>
            </a:avLst>
          </a:prstGeom>
          <a:solidFill>
            <a:srgbClr val="4950BC"/>
          </a:solidFill>
          <a:ln/>
        </p:spPr>
      </p:sp>
      <p:sp>
        <p:nvSpPr>
          <p:cNvPr id="25" name="Text 22"/>
          <p:cNvSpPr/>
          <p:nvPr/>
        </p:nvSpPr>
        <p:spPr>
          <a:xfrm>
            <a:off x="4481612" y="4954886"/>
            <a:ext cx="3171726" cy="471884"/>
          </a:xfrm>
          <a:prstGeom prst="rect">
            <a:avLst/>
          </a:prstGeom>
          <a:noFill/>
          <a:ln/>
        </p:spPr>
        <p:txBody>
          <a:bodyPr wrap="square" lIns="0" tIns="0" rIns="0" bIns="0" rtlCol="0" anchor="t"/>
          <a:lstStyle/>
          <a:p>
            <a:pPr algn="r" rtl="1">
              <a:lnSpc>
                <a:spcPts val="1833"/>
              </a:lnSpc>
            </a:pPr>
            <a:r>
              <a:rPr lang="en-US" sz="1458" b="1" dirty="0">
                <a:solidFill>
                  <a:srgbClr val="272525"/>
                </a:solidFill>
                <a:latin typeface="Arial" panose="020B0604020202020204" pitchFamily="34" charset="0"/>
                <a:ea typeface="Inter Bold" pitchFamily="34" charset="-122"/>
                <a:cs typeface="Arial" panose="020B0604020202020204" pitchFamily="34" charset="0"/>
              </a:rPr>
              <a:t>س/ إذا اعترض العميل عن كيفية التواصل معه من رقم جوال؟</a:t>
            </a:r>
            <a:endParaRPr lang="en-US" sz="1458" dirty="0">
              <a:latin typeface="Arial" panose="020B0604020202020204" pitchFamily="34" charset="0"/>
              <a:cs typeface="Arial" panose="020B0604020202020204" pitchFamily="34" charset="0"/>
            </a:endParaRPr>
          </a:p>
        </p:txBody>
      </p:sp>
      <p:sp>
        <p:nvSpPr>
          <p:cNvPr id="26" name="Text 23"/>
          <p:cNvSpPr/>
          <p:nvPr/>
        </p:nvSpPr>
        <p:spPr>
          <a:xfrm>
            <a:off x="4481612" y="5499100"/>
            <a:ext cx="3171726" cy="651868"/>
          </a:xfrm>
          <a:prstGeom prst="rect">
            <a:avLst/>
          </a:prstGeom>
          <a:noFill/>
          <a:ln/>
        </p:spPr>
        <p:txBody>
          <a:bodyPr wrap="square" lIns="0" tIns="0" rIns="0" bIns="0" rtlCol="0" anchor="t"/>
          <a:lstStyle/>
          <a:p>
            <a:pPr algn="r" rtl="1">
              <a:lnSpc>
                <a:spcPts val="1708"/>
              </a:lnSpc>
            </a:pPr>
            <a:r>
              <a:rPr lang="en-US" sz="1200" dirty="0">
                <a:solidFill>
                  <a:srgbClr val="272525"/>
                </a:solidFill>
                <a:latin typeface="Arial" panose="020B0604020202020204" pitchFamily="34" charset="0"/>
                <a:ea typeface="Inter" pitchFamily="34" charset="-122"/>
                <a:cs typeface="Arial" panose="020B0604020202020204" pitchFamily="34" charset="0"/>
              </a:rPr>
              <a:t>ج/ يتم إبلاغه بأنه سنترال الشركة، والتوضيح له إذا كان يرغب في التواصل من خلال رقم ثابت لا يوجد أي مشكلة.</a:t>
            </a:r>
            <a:endParaRPr lang="en-US" sz="1200" dirty="0">
              <a:latin typeface="Arial" panose="020B0604020202020204" pitchFamily="34" charset="0"/>
              <a:cs typeface="Arial" panose="020B0604020202020204" pitchFamily="34" charset="0"/>
            </a:endParaRPr>
          </a:p>
        </p:txBody>
      </p:sp>
      <p:pic>
        <p:nvPicPr>
          <p:cNvPr id="27" name="Picture 26">
            <a:extLst>
              <a:ext uri="{FF2B5EF4-FFF2-40B4-BE49-F238E27FC236}">
                <a16:creationId xmlns:a16="http://schemas.microsoft.com/office/drawing/2014/main" id="{F5C8603E-5387-4B3F-88E3-B6AAEE9C34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850" y="263708"/>
            <a:ext cx="1541483" cy="494509"/>
          </a:xfrm>
          <a:prstGeom prst="rect">
            <a:avLst/>
          </a:prstGeom>
        </p:spPr>
      </p:pic>
      <p:pic>
        <p:nvPicPr>
          <p:cNvPr id="28" name="Graphic 27">
            <a:extLst>
              <a:ext uri="{FF2B5EF4-FFF2-40B4-BE49-F238E27FC236}">
                <a16:creationId xmlns:a16="http://schemas.microsoft.com/office/drawing/2014/main" id="{44B339C8-DEB7-4450-ACE8-8403A021764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5552" y="75050"/>
            <a:ext cx="1023679" cy="884875"/>
          </a:xfrm>
          <a:prstGeom prst="rect">
            <a:avLst/>
          </a:prstGeom>
        </p:spPr>
      </p:pic>
      <p:sp>
        <p:nvSpPr>
          <p:cNvPr id="29" name="Rectangle 28">
            <a:extLst>
              <a:ext uri="{FF2B5EF4-FFF2-40B4-BE49-F238E27FC236}">
                <a16:creationId xmlns:a16="http://schemas.microsoft.com/office/drawing/2014/main" id="{1D522C72-F8BE-44C4-9E5F-EBE394D6BD65}"/>
              </a:ext>
            </a:extLst>
          </p:cNvPr>
          <p:cNvSpPr/>
          <p:nvPr/>
        </p:nvSpPr>
        <p:spPr>
          <a:xfrm>
            <a:off x="1929760" y="122007"/>
            <a:ext cx="45719" cy="777909"/>
          </a:xfrm>
          <a:prstGeom prst="rect">
            <a:avLst/>
          </a:prstGeom>
          <a:solidFill>
            <a:srgbClr val="008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728644" y="1523802"/>
            <a:ext cx="3832225" cy="478929"/>
          </a:xfrm>
          <a:prstGeom prst="rect">
            <a:avLst/>
          </a:prstGeom>
          <a:noFill/>
          <a:ln/>
        </p:spPr>
        <p:txBody>
          <a:bodyPr wrap="none" lIns="0" tIns="0" rIns="0" bIns="0" rtlCol="0" anchor="t"/>
          <a:lstStyle/>
          <a:p>
            <a:pPr algn="r" rtl="1">
              <a:lnSpc>
                <a:spcPts val="3750"/>
              </a:lnSpc>
            </a:pPr>
            <a:r>
              <a:rPr lang="en-US" sz="3000" b="1" u="sng" dirty="0">
                <a:solidFill>
                  <a:srgbClr val="000000"/>
                </a:solidFill>
                <a:latin typeface="Arial" panose="020B0604020202020204" pitchFamily="34" charset="0"/>
                <a:ea typeface="Inter Bold" pitchFamily="34" charset="-122"/>
                <a:cs typeface="Arial" panose="020B0604020202020204" pitchFamily="34" charset="0"/>
              </a:rPr>
              <a:t>في حالة أن العميل سأل</a:t>
            </a:r>
            <a:r>
              <a:rPr lang="ar-EG" sz="3000" b="1" u="sng" dirty="0">
                <a:solidFill>
                  <a:srgbClr val="000000"/>
                </a:solidFill>
                <a:latin typeface="Arial" panose="020B0604020202020204" pitchFamily="34" charset="0"/>
                <a:ea typeface="Inter Bold" pitchFamily="34" charset="-122"/>
                <a:cs typeface="Arial" panose="020B0604020202020204" pitchFamily="34" charset="0"/>
              </a:rPr>
              <a:t>؟</a:t>
            </a:r>
            <a:endParaRPr lang="en-US" sz="3000" u="sng" dirty="0">
              <a:latin typeface="Arial" panose="020B0604020202020204" pitchFamily="34" charset="0"/>
              <a:cs typeface="Arial" panose="020B0604020202020204" pitchFamily="34" charset="0"/>
            </a:endParaRPr>
          </a:p>
        </p:txBody>
      </p:sp>
      <p:sp>
        <p:nvSpPr>
          <p:cNvPr id="4" name="Shape 1"/>
          <p:cNvSpPr/>
          <p:nvPr/>
        </p:nvSpPr>
        <p:spPr>
          <a:xfrm>
            <a:off x="8000505" y="2189163"/>
            <a:ext cx="3560366" cy="1563985"/>
          </a:xfrm>
          <a:prstGeom prst="roundRect">
            <a:avLst>
              <a:gd name="adj" fmla="val 5847"/>
            </a:avLst>
          </a:prstGeom>
          <a:solidFill>
            <a:srgbClr val="FFFFFF"/>
          </a:solidFill>
          <a:ln w="22860">
            <a:solidFill>
              <a:srgbClr val="C0C1D7"/>
            </a:solidFill>
            <a:prstDash val="solid"/>
          </a:ln>
        </p:spPr>
      </p:sp>
      <p:sp>
        <p:nvSpPr>
          <p:cNvPr id="5" name="Shape 2"/>
          <p:cNvSpPr/>
          <p:nvPr/>
        </p:nvSpPr>
        <p:spPr>
          <a:xfrm>
            <a:off x="11503719" y="2189163"/>
            <a:ext cx="76200" cy="1563985"/>
          </a:xfrm>
          <a:prstGeom prst="roundRect">
            <a:avLst>
              <a:gd name="adj" fmla="val 84490"/>
            </a:avLst>
          </a:prstGeom>
          <a:solidFill>
            <a:srgbClr val="4950BC"/>
          </a:solidFill>
          <a:ln/>
        </p:spPr>
      </p:sp>
      <p:sp>
        <p:nvSpPr>
          <p:cNvPr id="6" name="Text 3"/>
          <p:cNvSpPr/>
          <p:nvPr/>
        </p:nvSpPr>
        <p:spPr>
          <a:xfrm>
            <a:off x="8759032" y="2361407"/>
            <a:ext cx="2572444" cy="239415"/>
          </a:xfrm>
          <a:prstGeom prst="rect">
            <a:avLst/>
          </a:prstGeom>
          <a:noFill/>
          <a:ln/>
        </p:spPr>
        <p:txBody>
          <a:bodyPr wrap="none" lIns="0" tIns="0" rIns="0" bIns="0" rtlCol="0" anchor="t"/>
          <a:lstStyle/>
          <a:p>
            <a:pPr algn="r" rtl="1">
              <a:lnSpc>
                <a:spcPts val="1875"/>
              </a:lnSpc>
            </a:pPr>
            <a:r>
              <a:rPr lang="en-US" sz="1500" b="1" dirty="0">
                <a:solidFill>
                  <a:srgbClr val="272525"/>
                </a:solidFill>
                <a:latin typeface="Arial" panose="020B0604020202020204" pitchFamily="34" charset="0"/>
                <a:ea typeface="Inter Bold" pitchFamily="34" charset="-122"/>
                <a:cs typeface="Arial" panose="020B0604020202020204" pitchFamily="34" charset="0"/>
              </a:rPr>
              <a:t>س/ إذا طلب العميل رقماً للتواصل</a:t>
            </a:r>
            <a:endParaRPr lang="en-US" sz="1500" dirty="0">
              <a:latin typeface="Arial" panose="020B0604020202020204" pitchFamily="34" charset="0"/>
              <a:cs typeface="Arial" panose="020B0604020202020204" pitchFamily="34" charset="0"/>
            </a:endParaRPr>
          </a:p>
        </p:txBody>
      </p:sp>
      <p:sp>
        <p:nvSpPr>
          <p:cNvPr id="7" name="Text 4"/>
          <p:cNvSpPr/>
          <p:nvPr/>
        </p:nvSpPr>
        <p:spPr>
          <a:xfrm>
            <a:off x="8172748" y="2675334"/>
            <a:ext cx="3158728" cy="666155"/>
          </a:xfrm>
          <a:prstGeom prst="rect">
            <a:avLst/>
          </a:prstGeom>
          <a:noFill/>
          <a:ln/>
        </p:spPr>
        <p:txBody>
          <a:bodyPr wrap="square" lIns="0" tIns="0" rIns="0" bIns="0" rtlCol="0" anchor="t"/>
          <a:lstStyle/>
          <a:p>
            <a:pPr algn="r" rtl="1">
              <a:lnSpc>
                <a:spcPts val="1708"/>
              </a:lnSpc>
            </a:pPr>
            <a:r>
              <a:rPr lang="en-US" sz="1400" dirty="0">
                <a:solidFill>
                  <a:srgbClr val="272525"/>
                </a:solidFill>
                <a:latin typeface="Arial" panose="020B0604020202020204" pitchFamily="34" charset="0"/>
                <a:ea typeface="Inter" pitchFamily="34" charset="-122"/>
                <a:cs typeface="Arial" panose="020B0604020202020204" pitchFamily="34" charset="0"/>
              </a:rPr>
              <a:t>ج/ </a:t>
            </a:r>
            <a:r>
              <a:rPr lang="ar-EG"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يتم</a:t>
            </a:r>
            <a:r>
              <a:rPr lang="en-US" sz="1400" dirty="0">
                <a:solidFill>
                  <a:srgbClr val="272525"/>
                </a:solidFill>
                <a:latin typeface="Arial" panose="020B0604020202020204" pitchFamily="34" charset="0"/>
                <a:ea typeface="Inter" pitchFamily="34" charset="-122"/>
                <a:cs typeface="Arial" panose="020B0604020202020204" pitchFamily="34" charset="0"/>
              </a:rPr>
              <a:t> التوضيح أنه رقم الشركة (ولا يستقبل الاتصالات) ويتم التوضيح أنه سيتم التواصل معه مرة أخرى من قبل الموظف.</a:t>
            </a:r>
            <a:endParaRPr lang="en-US" sz="1400" dirty="0">
              <a:latin typeface="Arial" panose="020B0604020202020204" pitchFamily="34" charset="0"/>
              <a:cs typeface="Arial" panose="020B0604020202020204" pitchFamily="34" charset="0"/>
            </a:endParaRPr>
          </a:p>
        </p:txBody>
      </p:sp>
      <p:sp>
        <p:nvSpPr>
          <p:cNvPr id="8" name="Shape 5"/>
          <p:cNvSpPr/>
          <p:nvPr/>
        </p:nvSpPr>
        <p:spPr>
          <a:xfrm>
            <a:off x="4315818" y="2189163"/>
            <a:ext cx="3560465" cy="1563985"/>
          </a:xfrm>
          <a:prstGeom prst="roundRect">
            <a:avLst>
              <a:gd name="adj" fmla="val 5847"/>
            </a:avLst>
          </a:prstGeom>
          <a:solidFill>
            <a:srgbClr val="FFFFFF"/>
          </a:solidFill>
          <a:ln w="22860">
            <a:solidFill>
              <a:srgbClr val="C0C1D7"/>
            </a:solidFill>
            <a:prstDash val="solid"/>
          </a:ln>
        </p:spPr>
      </p:sp>
      <p:sp>
        <p:nvSpPr>
          <p:cNvPr id="9" name="Shape 6"/>
          <p:cNvSpPr/>
          <p:nvPr/>
        </p:nvSpPr>
        <p:spPr>
          <a:xfrm>
            <a:off x="7819132" y="2189163"/>
            <a:ext cx="76200" cy="1563985"/>
          </a:xfrm>
          <a:prstGeom prst="roundRect">
            <a:avLst>
              <a:gd name="adj" fmla="val 84490"/>
            </a:avLst>
          </a:prstGeom>
          <a:solidFill>
            <a:srgbClr val="4950BC"/>
          </a:solidFill>
          <a:ln/>
        </p:spPr>
      </p:sp>
      <p:sp>
        <p:nvSpPr>
          <p:cNvPr id="10" name="Text 7"/>
          <p:cNvSpPr/>
          <p:nvPr/>
        </p:nvSpPr>
        <p:spPr>
          <a:xfrm>
            <a:off x="4488061" y="2361407"/>
            <a:ext cx="3158828" cy="478830"/>
          </a:xfrm>
          <a:prstGeom prst="rect">
            <a:avLst/>
          </a:prstGeom>
          <a:noFill/>
          <a:ln/>
        </p:spPr>
        <p:txBody>
          <a:bodyPr wrap="square" lIns="0" tIns="0" rIns="0" bIns="0" rtlCol="0" anchor="t"/>
          <a:lstStyle/>
          <a:p>
            <a:pPr algn="r" rtl="1">
              <a:lnSpc>
                <a:spcPts val="1875"/>
              </a:lnSpc>
            </a:pPr>
            <a:r>
              <a:rPr lang="en-US" sz="1500" b="1" dirty="0">
                <a:solidFill>
                  <a:srgbClr val="272525"/>
                </a:solidFill>
                <a:latin typeface="Arial" panose="020B0604020202020204" pitchFamily="34" charset="0"/>
                <a:ea typeface="Inter Bold" pitchFamily="34" charset="-122"/>
                <a:cs typeface="Arial" panose="020B0604020202020204" pitchFamily="34" charset="0"/>
              </a:rPr>
              <a:t>س/ عند سؤال العميل عن ما الذي سوف يحدث في حالة عدم السداد</a:t>
            </a:r>
            <a:endParaRPr lang="en-US" sz="1500" dirty="0">
              <a:latin typeface="Arial" panose="020B0604020202020204" pitchFamily="34" charset="0"/>
              <a:cs typeface="Arial" panose="020B0604020202020204" pitchFamily="34" charset="0"/>
            </a:endParaRPr>
          </a:p>
        </p:txBody>
      </p:sp>
      <p:sp>
        <p:nvSpPr>
          <p:cNvPr id="11" name="Text 8"/>
          <p:cNvSpPr/>
          <p:nvPr/>
        </p:nvSpPr>
        <p:spPr>
          <a:xfrm>
            <a:off x="4488061" y="2914749"/>
            <a:ext cx="3158828" cy="666155"/>
          </a:xfrm>
          <a:prstGeom prst="rect">
            <a:avLst/>
          </a:prstGeom>
          <a:noFill/>
          <a:ln/>
        </p:spPr>
        <p:txBody>
          <a:bodyPr wrap="square" lIns="0" tIns="0" rIns="0" bIns="0" rtlCol="0" anchor="t"/>
          <a:lstStyle/>
          <a:p>
            <a:pPr algn="r" rtl="1">
              <a:lnSpc>
                <a:spcPts val="1708"/>
              </a:lnSpc>
            </a:pPr>
            <a:r>
              <a:rPr lang="en-US" sz="1200" dirty="0">
                <a:solidFill>
                  <a:srgbClr val="272525"/>
                </a:solidFill>
                <a:latin typeface="Arial" panose="020B0604020202020204" pitchFamily="34" charset="0"/>
                <a:ea typeface="Inter" pitchFamily="34" charset="-122"/>
                <a:cs typeface="Arial" panose="020B0604020202020204" pitchFamily="34" charset="0"/>
              </a:rPr>
              <a:t>ج/ </a:t>
            </a:r>
            <a:r>
              <a:rPr lang="ar-EG" sz="1200" dirty="0">
                <a:solidFill>
                  <a:srgbClr val="272525"/>
                </a:solidFill>
                <a:latin typeface="Arial" panose="020B0604020202020204" pitchFamily="34" charset="0"/>
                <a:ea typeface="Inter" pitchFamily="34" charset="-122"/>
                <a:cs typeface="Arial" panose="020B0604020202020204" pitchFamily="34" charset="0"/>
              </a:rPr>
              <a:t> </a:t>
            </a:r>
            <a:r>
              <a:rPr lang="en-US" sz="1200" dirty="0" err="1">
                <a:solidFill>
                  <a:srgbClr val="272525"/>
                </a:solidFill>
                <a:latin typeface="Arial" panose="020B0604020202020204" pitchFamily="34" charset="0"/>
                <a:ea typeface="Inter" pitchFamily="34" charset="-122"/>
                <a:cs typeface="Arial" panose="020B0604020202020204" pitchFamily="34" charset="0"/>
              </a:rPr>
              <a:t>يتم</a:t>
            </a:r>
            <a:r>
              <a:rPr lang="en-US" sz="1200" dirty="0">
                <a:solidFill>
                  <a:srgbClr val="272525"/>
                </a:solidFill>
                <a:latin typeface="Arial" panose="020B0604020202020204" pitchFamily="34" charset="0"/>
                <a:ea typeface="Inter" pitchFamily="34" charset="-122"/>
                <a:cs typeface="Arial" panose="020B0604020202020204" pitchFamily="34" charset="0"/>
              </a:rPr>
              <a:t> الرد من قبل الموظف (نحن قسم مطالبات والإجراءات خاصة بالشركة) وممنوع نهائياً ذكر لفظ "إجراءات قانونية".</a:t>
            </a:r>
            <a:endParaRPr lang="en-US" sz="1200" dirty="0">
              <a:latin typeface="Arial" panose="020B0604020202020204" pitchFamily="34" charset="0"/>
              <a:cs typeface="Arial" panose="020B0604020202020204" pitchFamily="34" charset="0"/>
            </a:endParaRPr>
          </a:p>
        </p:txBody>
      </p:sp>
      <p:sp>
        <p:nvSpPr>
          <p:cNvPr id="12" name="Shape 9"/>
          <p:cNvSpPr/>
          <p:nvPr/>
        </p:nvSpPr>
        <p:spPr>
          <a:xfrm>
            <a:off x="631230" y="2189163"/>
            <a:ext cx="3560366" cy="1563985"/>
          </a:xfrm>
          <a:prstGeom prst="roundRect">
            <a:avLst>
              <a:gd name="adj" fmla="val 5847"/>
            </a:avLst>
          </a:prstGeom>
          <a:solidFill>
            <a:srgbClr val="FFFFFF"/>
          </a:solidFill>
          <a:ln w="22860">
            <a:solidFill>
              <a:srgbClr val="C0C1D7"/>
            </a:solidFill>
            <a:prstDash val="solid"/>
          </a:ln>
        </p:spPr>
      </p:sp>
      <p:sp>
        <p:nvSpPr>
          <p:cNvPr id="13" name="Shape 10"/>
          <p:cNvSpPr/>
          <p:nvPr/>
        </p:nvSpPr>
        <p:spPr>
          <a:xfrm>
            <a:off x="4134445" y="2189163"/>
            <a:ext cx="76200" cy="1563985"/>
          </a:xfrm>
          <a:prstGeom prst="roundRect">
            <a:avLst>
              <a:gd name="adj" fmla="val 84490"/>
            </a:avLst>
          </a:prstGeom>
          <a:solidFill>
            <a:srgbClr val="4950BC"/>
          </a:solidFill>
          <a:ln/>
        </p:spPr>
      </p:sp>
      <p:sp>
        <p:nvSpPr>
          <p:cNvPr id="14" name="Text 11"/>
          <p:cNvSpPr/>
          <p:nvPr/>
        </p:nvSpPr>
        <p:spPr>
          <a:xfrm>
            <a:off x="803474" y="2361407"/>
            <a:ext cx="3158728" cy="478830"/>
          </a:xfrm>
          <a:prstGeom prst="rect">
            <a:avLst/>
          </a:prstGeom>
          <a:noFill/>
          <a:ln/>
        </p:spPr>
        <p:txBody>
          <a:bodyPr wrap="square" lIns="0" tIns="0" rIns="0" bIns="0" rtlCol="0" anchor="t"/>
          <a:lstStyle/>
          <a:p>
            <a:pPr algn="r" rtl="1">
              <a:lnSpc>
                <a:spcPts val="1875"/>
              </a:lnSpc>
            </a:pPr>
            <a:r>
              <a:rPr lang="en-US" sz="1500" b="1" dirty="0">
                <a:solidFill>
                  <a:srgbClr val="272525"/>
                </a:solidFill>
                <a:latin typeface="Arial" panose="020B0604020202020204" pitchFamily="34" charset="0"/>
                <a:ea typeface="Inter Bold" pitchFamily="34" charset="-122"/>
                <a:cs typeface="Arial" panose="020B0604020202020204" pitchFamily="34" charset="0"/>
              </a:rPr>
              <a:t>س/ في حالة أن العميل أوضح أن الفاتورة ليست تابعة له وذلك بعد التأكد من هويته</a:t>
            </a:r>
            <a:endParaRPr lang="en-US" sz="1500" dirty="0">
              <a:latin typeface="Arial" panose="020B0604020202020204" pitchFamily="34" charset="0"/>
              <a:cs typeface="Arial" panose="020B0604020202020204" pitchFamily="34" charset="0"/>
            </a:endParaRPr>
          </a:p>
        </p:txBody>
      </p:sp>
      <p:sp>
        <p:nvSpPr>
          <p:cNvPr id="15" name="Text 12"/>
          <p:cNvSpPr/>
          <p:nvPr/>
        </p:nvSpPr>
        <p:spPr>
          <a:xfrm>
            <a:off x="803474" y="2914749"/>
            <a:ext cx="3158728" cy="444103"/>
          </a:xfrm>
          <a:prstGeom prst="rect">
            <a:avLst/>
          </a:prstGeom>
          <a:noFill/>
          <a:ln/>
        </p:spPr>
        <p:txBody>
          <a:bodyPr wrap="square" lIns="0" tIns="0" rIns="0" bIns="0" rtlCol="0" anchor="t"/>
          <a:lstStyle/>
          <a:p>
            <a:pPr algn="r" rtl="1">
              <a:lnSpc>
                <a:spcPts val="1708"/>
              </a:lnSpc>
            </a:pPr>
            <a:r>
              <a:rPr lang="en-US" sz="1400" dirty="0">
                <a:solidFill>
                  <a:srgbClr val="272525"/>
                </a:solidFill>
                <a:latin typeface="Arial" panose="020B0604020202020204" pitchFamily="34" charset="0"/>
                <a:ea typeface="Inter" pitchFamily="34" charset="-122"/>
                <a:cs typeface="Arial" panose="020B0604020202020204" pitchFamily="34" charset="0"/>
              </a:rPr>
              <a:t>ج/ </a:t>
            </a:r>
            <a:r>
              <a:rPr lang="ar-EG"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يتم</a:t>
            </a:r>
            <a:r>
              <a:rPr lang="en-US" sz="1400" dirty="0">
                <a:solidFill>
                  <a:srgbClr val="272525"/>
                </a:solidFill>
                <a:latin typeface="Arial" panose="020B0604020202020204" pitchFamily="34" charset="0"/>
                <a:ea typeface="Inter" pitchFamily="34" charset="-122"/>
                <a:cs typeface="Arial" panose="020B0604020202020204" pitchFamily="34" charset="0"/>
              </a:rPr>
              <a:t> التوضيح أن الفاتورة على اسمه ومحاولة معرفة صلة العميل بالفاتورة للوصول لحل حتى يتم السداد.</a:t>
            </a:r>
            <a:endParaRPr lang="en-US" sz="1400" dirty="0">
              <a:latin typeface="Arial" panose="020B0604020202020204" pitchFamily="34" charset="0"/>
              <a:cs typeface="Arial" panose="020B0604020202020204" pitchFamily="34" charset="0"/>
            </a:endParaRPr>
          </a:p>
        </p:txBody>
      </p:sp>
      <p:sp>
        <p:nvSpPr>
          <p:cNvPr id="16" name="Shape 13"/>
          <p:cNvSpPr/>
          <p:nvPr/>
        </p:nvSpPr>
        <p:spPr>
          <a:xfrm>
            <a:off x="8000505" y="3877369"/>
            <a:ext cx="3560366" cy="2212777"/>
          </a:xfrm>
          <a:prstGeom prst="roundRect">
            <a:avLst>
              <a:gd name="adj" fmla="val 4132"/>
            </a:avLst>
          </a:prstGeom>
          <a:solidFill>
            <a:srgbClr val="FFFFFF"/>
          </a:solidFill>
          <a:ln w="22860">
            <a:solidFill>
              <a:srgbClr val="C0C1D7"/>
            </a:solidFill>
            <a:prstDash val="solid"/>
          </a:ln>
        </p:spPr>
      </p:sp>
      <p:sp>
        <p:nvSpPr>
          <p:cNvPr id="17" name="Shape 14"/>
          <p:cNvSpPr/>
          <p:nvPr/>
        </p:nvSpPr>
        <p:spPr>
          <a:xfrm>
            <a:off x="11503719" y="3877369"/>
            <a:ext cx="76200" cy="2212777"/>
          </a:xfrm>
          <a:prstGeom prst="roundRect">
            <a:avLst>
              <a:gd name="adj" fmla="val 84490"/>
            </a:avLst>
          </a:prstGeom>
          <a:solidFill>
            <a:srgbClr val="4950BC"/>
          </a:solidFill>
          <a:ln/>
        </p:spPr>
      </p:sp>
      <p:sp>
        <p:nvSpPr>
          <p:cNvPr id="18" name="Text 15"/>
          <p:cNvSpPr/>
          <p:nvPr/>
        </p:nvSpPr>
        <p:spPr>
          <a:xfrm>
            <a:off x="8492927" y="4049613"/>
            <a:ext cx="2838549" cy="239415"/>
          </a:xfrm>
          <a:prstGeom prst="rect">
            <a:avLst/>
          </a:prstGeom>
          <a:noFill/>
          <a:ln/>
        </p:spPr>
        <p:txBody>
          <a:bodyPr wrap="none" lIns="0" tIns="0" rIns="0" bIns="0" rtlCol="0" anchor="t"/>
          <a:lstStyle/>
          <a:p>
            <a:pPr algn="r" rtl="1">
              <a:lnSpc>
                <a:spcPts val="1875"/>
              </a:lnSpc>
            </a:pPr>
            <a:r>
              <a:rPr lang="en-US" sz="1500" b="1" dirty="0">
                <a:solidFill>
                  <a:srgbClr val="272525"/>
                </a:solidFill>
                <a:latin typeface="Arial" panose="020B0604020202020204" pitchFamily="34" charset="0"/>
                <a:ea typeface="Inter Bold" pitchFamily="34" charset="-122"/>
                <a:cs typeface="Arial" panose="020B0604020202020204" pitchFamily="34" charset="0"/>
              </a:rPr>
              <a:t>س/ في حالة إبلاغ العميل أنه تم السداد</a:t>
            </a:r>
            <a:endParaRPr lang="en-US" sz="1500" dirty="0">
              <a:latin typeface="Arial" panose="020B0604020202020204" pitchFamily="34" charset="0"/>
              <a:cs typeface="Arial" panose="020B0604020202020204" pitchFamily="34" charset="0"/>
            </a:endParaRPr>
          </a:p>
        </p:txBody>
      </p:sp>
      <p:sp>
        <p:nvSpPr>
          <p:cNvPr id="19" name="Text 16"/>
          <p:cNvSpPr/>
          <p:nvPr/>
        </p:nvSpPr>
        <p:spPr>
          <a:xfrm>
            <a:off x="8172748" y="4363542"/>
            <a:ext cx="3158728" cy="1554361"/>
          </a:xfrm>
          <a:prstGeom prst="rect">
            <a:avLst/>
          </a:prstGeom>
          <a:noFill/>
          <a:ln/>
        </p:spPr>
        <p:txBody>
          <a:bodyPr wrap="square" lIns="0" tIns="0" rIns="0" bIns="0" rtlCol="0" anchor="t"/>
          <a:lstStyle/>
          <a:p>
            <a:pPr algn="r" rtl="1">
              <a:lnSpc>
                <a:spcPts val="1708"/>
              </a:lnSpc>
            </a:pPr>
            <a:r>
              <a:rPr lang="en-US" sz="1400" dirty="0">
                <a:solidFill>
                  <a:srgbClr val="272525"/>
                </a:solidFill>
                <a:latin typeface="Arial" panose="020B0604020202020204" pitchFamily="34" charset="0"/>
                <a:ea typeface="Inter" pitchFamily="34" charset="-122"/>
                <a:cs typeface="Arial" panose="020B0604020202020204" pitchFamily="34" charset="0"/>
              </a:rPr>
              <a:t>ج/ </a:t>
            </a:r>
            <a:r>
              <a:rPr lang="ar-EG"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يتم</a:t>
            </a:r>
            <a:r>
              <a:rPr lang="en-US" sz="1400" dirty="0">
                <a:solidFill>
                  <a:srgbClr val="272525"/>
                </a:solidFill>
                <a:latin typeface="Arial" panose="020B0604020202020204" pitchFamily="34" charset="0"/>
                <a:ea typeface="Inter" pitchFamily="34" charset="-122"/>
                <a:cs typeface="Arial" panose="020B0604020202020204" pitchFamily="34" charset="0"/>
              </a:rPr>
              <a:t> التأكيد على العميل برقم الحساب والمبلغ. وإذا أوضح أن الفاتورة نفسها مسددة، يتم طلب إرسال إيصال السداد أو رسالة الشكر من قبل العميل وذلك لإرفاقها بالسيستم. وإذا تساءل لماذا، يتم التوضيح (حتى لا يتم إزعاجه مرة أخرى من قبل الموظفين ولكي تظهر الفاتورة بأنها مسددة على السيستم). وإذا رفض بعد المحاولة لا يتم الضغط عليه في الإرسال.</a:t>
            </a:r>
            <a:endParaRPr lang="en-US" sz="1400" dirty="0">
              <a:latin typeface="Arial" panose="020B0604020202020204" pitchFamily="34" charset="0"/>
              <a:cs typeface="Arial" panose="020B0604020202020204" pitchFamily="34" charset="0"/>
            </a:endParaRPr>
          </a:p>
        </p:txBody>
      </p:sp>
      <p:sp>
        <p:nvSpPr>
          <p:cNvPr id="20" name="Shape 17"/>
          <p:cNvSpPr/>
          <p:nvPr/>
        </p:nvSpPr>
        <p:spPr>
          <a:xfrm>
            <a:off x="4315818" y="3877369"/>
            <a:ext cx="3560465" cy="2212777"/>
          </a:xfrm>
          <a:prstGeom prst="roundRect">
            <a:avLst>
              <a:gd name="adj" fmla="val 4132"/>
            </a:avLst>
          </a:prstGeom>
          <a:solidFill>
            <a:srgbClr val="FFFFFF"/>
          </a:solidFill>
          <a:ln w="22860">
            <a:solidFill>
              <a:srgbClr val="C0C1D7"/>
            </a:solidFill>
            <a:prstDash val="solid"/>
          </a:ln>
        </p:spPr>
      </p:sp>
      <p:sp>
        <p:nvSpPr>
          <p:cNvPr id="21" name="Shape 18"/>
          <p:cNvSpPr/>
          <p:nvPr/>
        </p:nvSpPr>
        <p:spPr>
          <a:xfrm>
            <a:off x="7819132" y="3877369"/>
            <a:ext cx="76200" cy="2212777"/>
          </a:xfrm>
          <a:prstGeom prst="roundRect">
            <a:avLst>
              <a:gd name="adj" fmla="val 84490"/>
            </a:avLst>
          </a:prstGeom>
          <a:solidFill>
            <a:srgbClr val="4950BC"/>
          </a:solidFill>
          <a:ln/>
        </p:spPr>
      </p:sp>
      <p:sp>
        <p:nvSpPr>
          <p:cNvPr id="22" name="Text 19"/>
          <p:cNvSpPr/>
          <p:nvPr/>
        </p:nvSpPr>
        <p:spPr>
          <a:xfrm>
            <a:off x="4488061" y="4049613"/>
            <a:ext cx="3158828" cy="478830"/>
          </a:xfrm>
          <a:prstGeom prst="rect">
            <a:avLst/>
          </a:prstGeom>
          <a:noFill/>
          <a:ln/>
        </p:spPr>
        <p:txBody>
          <a:bodyPr wrap="square" lIns="0" tIns="0" rIns="0" bIns="0" rtlCol="0" anchor="t"/>
          <a:lstStyle/>
          <a:p>
            <a:pPr algn="r" rtl="1">
              <a:lnSpc>
                <a:spcPts val="1875"/>
              </a:lnSpc>
            </a:pPr>
            <a:r>
              <a:rPr lang="en-US" sz="1500" b="1" dirty="0">
                <a:solidFill>
                  <a:srgbClr val="272525"/>
                </a:solidFill>
                <a:latin typeface="Arial" panose="020B0604020202020204" pitchFamily="34" charset="0"/>
                <a:ea typeface="Inter Bold" pitchFamily="34" charset="-122"/>
                <a:cs typeface="Arial" panose="020B0604020202020204" pitchFamily="34" charset="0"/>
              </a:rPr>
              <a:t>س/ في حالة أن العميل أبلغ أنه قام بتقديم اعتراض على الفاتورة</a:t>
            </a:r>
            <a:endParaRPr lang="en-US" sz="1500" dirty="0">
              <a:latin typeface="Arial" panose="020B0604020202020204" pitchFamily="34" charset="0"/>
              <a:cs typeface="Arial" panose="020B0604020202020204" pitchFamily="34" charset="0"/>
            </a:endParaRPr>
          </a:p>
        </p:txBody>
      </p:sp>
      <p:sp>
        <p:nvSpPr>
          <p:cNvPr id="23" name="Text 20"/>
          <p:cNvSpPr/>
          <p:nvPr/>
        </p:nvSpPr>
        <p:spPr>
          <a:xfrm>
            <a:off x="4488061" y="4602957"/>
            <a:ext cx="3158828" cy="666155"/>
          </a:xfrm>
          <a:prstGeom prst="rect">
            <a:avLst/>
          </a:prstGeom>
          <a:noFill/>
          <a:ln/>
        </p:spPr>
        <p:txBody>
          <a:bodyPr wrap="square" lIns="0" tIns="0" rIns="0" bIns="0" rtlCol="0" anchor="t"/>
          <a:lstStyle/>
          <a:p>
            <a:pPr algn="r" rtl="1">
              <a:lnSpc>
                <a:spcPts val="1708"/>
              </a:lnSpc>
            </a:pPr>
            <a:r>
              <a:rPr lang="en-US" sz="1400" dirty="0">
                <a:solidFill>
                  <a:srgbClr val="272525"/>
                </a:solidFill>
                <a:latin typeface="Arial" panose="020B0604020202020204" pitchFamily="34" charset="0"/>
                <a:ea typeface="Inter" pitchFamily="34" charset="-122"/>
                <a:cs typeface="Arial" panose="020B0604020202020204" pitchFamily="34" charset="0"/>
              </a:rPr>
              <a:t>ج/ </a:t>
            </a:r>
            <a:r>
              <a:rPr lang="ar-EG"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يتم</a:t>
            </a:r>
            <a:r>
              <a:rPr lang="en-US" sz="1400" dirty="0">
                <a:solidFill>
                  <a:srgbClr val="272525"/>
                </a:solidFill>
                <a:latin typeface="Arial" panose="020B0604020202020204" pitchFamily="34" charset="0"/>
                <a:ea typeface="Inter" pitchFamily="34" charset="-122"/>
                <a:cs typeface="Arial" panose="020B0604020202020204" pitchFamily="34" charset="0"/>
              </a:rPr>
              <a:t> التوضيح للعميل أن يتواصل مع الرقم الموحد لمعرفة هل تم قبول الاعتراض أم أن الفاتورة عليه، مع إبلاغه أنه سيتم التواصل معه مرة أخرى لمعرفة ما تم.</a:t>
            </a:r>
            <a:endParaRPr lang="en-US" sz="1400" dirty="0">
              <a:latin typeface="Arial" panose="020B0604020202020204" pitchFamily="34" charset="0"/>
              <a:cs typeface="Arial" panose="020B0604020202020204" pitchFamily="34" charset="0"/>
            </a:endParaRPr>
          </a:p>
        </p:txBody>
      </p:sp>
      <p:pic>
        <p:nvPicPr>
          <p:cNvPr id="24" name="Picture 23">
            <a:extLst>
              <a:ext uri="{FF2B5EF4-FFF2-40B4-BE49-F238E27FC236}">
                <a16:creationId xmlns:a16="http://schemas.microsoft.com/office/drawing/2014/main" id="{40D59405-0787-4A04-8667-919354A7B3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850" y="263708"/>
            <a:ext cx="1541483" cy="494509"/>
          </a:xfrm>
          <a:prstGeom prst="rect">
            <a:avLst/>
          </a:prstGeom>
        </p:spPr>
      </p:pic>
      <p:pic>
        <p:nvPicPr>
          <p:cNvPr id="25" name="Graphic 24">
            <a:extLst>
              <a:ext uri="{FF2B5EF4-FFF2-40B4-BE49-F238E27FC236}">
                <a16:creationId xmlns:a16="http://schemas.microsoft.com/office/drawing/2014/main" id="{A239E928-4F9B-4BAF-B032-FF0DC127395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5552" y="75050"/>
            <a:ext cx="1023679" cy="884875"/>
          </a:xfrm>
          <a:prstGeom prst="rect">
            <a:avLst/>
          </a:prstGeom>
        </p:spPr>
      </p:pic>
      <p:sp>
        <p:nvSpPr>
          <p:cNvPr id="26" name="Rectangle 25">
            <a:extLst>
              <a:ext uri="{FF2B5EF4-FFF2-40B4-BE49-F238E27FC236}">
                <a16:creationId xmlns:a16="http://schemas.microsoft.com/office/drawing/2014/main" id="{CB389C66-8B6D-4F60-A965-51D2419AEFD9}"/>
              </a:ext>
            </a:extLst>
          </p:cNvPr>
          <p:cNvSpPr/>
          <p:nvPr/>
        </p:nvSpPr>
        <p:spPr>
          <a:xfrm>
            <a:off x="1929760" y="122007"/>
            <a:ext cx="45719" cy="777909"/>
          </a:xfrm>
          <a:prstGeom prst="rect">
            <a:avLst/>
          </a:prstGeom>
          <a:solidFill>
            <a:srgbClr val="008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184926" y="1429147"/>
            <a:ext cx="4364038" cy="545406"/>
          </a:xfrm>
          <a:prstGeom prst="rect">
            <a:avLst/>
          </a:prstGeom>
          <a:noFill/>
          <a:ln/>
        </p:spPr>
        <p:txBody>
          <a:bodyPr wrap="none" lIns="0" tIns="0" rIns="0" bIns="0" rtlCol="0" anchor="t"/>
          <a:lstStyle/>
          <a:p>
            <a:pPr algn="r" rtl="1">
              <a:lnSpc>
                <a:spcPts val="4291"/>
              </a:lnSpc>
            </a:pPr>
            <a:r>
              <a:rPr lang="en-US" sz="3417" b="1" u="sng" dirty="0">
                <a:solidFill>
                  <a:srgbClr val="000000"/>
                </a:solidFill>
                <a:latin typeface="Arial" panose="020B0604020202020204" pitchFamily="34" charset="0"/>
                <a:ea typeface="Inter Bold" pitchFamily="34" charset="-122"/>
                <a:cs typeface="Arial" panose="020B0604020202020204" pitchFamily="34" charset="0"/>
              </a:rPr>
              <a:t>في حالة أن العميل سأل</a:t>
            </a:r>
            <a:r>
              <a:rPr lang="ar-EG" sz="3417" b="1" u="sng" dirty="0">
                <a:solidFill>
                  <a:srgbClr val="000000"/>
                </a:solidFill>
                <a:latin typeface="Arial" panose="020B0604020202020204" pitchFamily="34" charset="0"/>
                <a:ea typeface="Inter Bold" pitchFamily="34" charset="-122"/>
                <a:cs typeface="Arial" panose="020B0604020202020204" pitchFamily="34" charset="0"/>
              </a:rPr>
              <a:t>؟</a:t>
            </a:r>
            <a:endParaRPr lang="en-US" sz="3417" u="sng" dirty="0">
              <a:latin typeface="Arial" panose="020B0604020202020204" pitchFamily="34" charset="0"/>
              <a:cs typeface="Arial" panose="020B0604020202020204" pitchFamily="34" charset="0"/>
            </a:endParaRPr>
          </a:p>
        </p:txBody>
      </p:sp>
      <p:sp>
        <p:nvSpPr>
          <p:cNvPr id="4" name="Shape 1"/>
          <p:cNvSpPr/>
          <p:nvPr/>
        </p:nvSpPr>
        <p:spPr>
          <a:xfrm>
            <a:off x="8021142" y="2216349"/>
            <a:ext cx="3527822" cy="2375694"/>
          </a:xfrm>
          <a:prstGeom prst="roundRect">
            <a:avLst>
              <a:gd name="adj" fmla="val 3849"/>
            </a:avLst>
          </a:prstGeom>
          <a:solidFill>
            <a:srgbClr val="FFFFFF"/>
          </a:solidFill>
          <a:ln w="22860">
            <a:solidFill>
              <a:srgbClr val="C0C1D7"/>
            </a:solidFill>
            <a:prstDash val="solid"/>
          </a:ln>
        </p:spPr>
      </p:sp>
      <p:sp>
        <p:nvSpPr>
          <p:cNvPr id="5" name="Shape 2"/>
          <p:cNvSpPr/>
          <p:nvPr/>
        </p:nvSpPr>
        <p:spPr>
          <a:xfrm>
            <a:off x="11491813" y="2216349"/>
            <a:ext cx="76200" cy="2375694"/>
          </a:xfrm>
          <a:prstGeom prst="roundRect">
            <a:avLst>
              <a:gd name="adj" fmla="val 96215"/>
            </a:avLst>
          </a:prstGeom>
          <a:solidFill>
            <a:srgbClr val="4950BC"/>
          </a:solidFill>
          <a:ln/>
        </p:spPr>
      </p:sp>
      <p:sp>
        <p:nvSpPr>
          <p:cNvPr id="6" name="Text 3"/>
          <p:cNvSpPr/>
          <p:nvPr/>
        </p:nvSpPr>
        <p:spPr>
          <a:xfrm>
            <a:off x="8214718" y="2409924"/>
            <a:ext cx="3083520" cy="545307"/>
          </a:xfrm>
          <a:prstGeom prst="rect">
            <a:avLst/>
          </a:prstGeom>
          <a:noFill/>
          <a:ln/>
        </p:spPr>
        <p:txBody>
          <a:bodyPr wrap="square" lIns="0" tIns="0" rIns="0" bIns="0" rtlCol="0" anchor="t"/>
          <a:lstStyle/>
          <a:p>
            <a:pPr algn="r" rtl="1">
              <a:lnSpc>
                <a:spcPts val="2125"/>
              </a:lnSpc>
            </a:pPr>
            <a:r>
              <a:rPr lang="en-US" sz="1708" b="1" dirty="0">
                <a:solidFill>
                  <a:srgbClr val="272525"/>
                </a:solidFill>
                <a:latin typeface="Arial" panose="020B0604020202020204" pitchFamily="34" charset="0"/>
                <a:ea typeface="Inter Bold" pitchFamily="34" charset="-122"/>
                <a:cs typeface="Arial" panose="020B0604020202020204" pitchFamily="34" charset="0"/>
              </a:rPr>
              <a:t>س/ إذا كان يرغب العميل في إيقاف خدمة العداد</a:t>
            </a:r>
            <a:endParaRPr lang="en-US" sz="1708" dirty="0">
              <a:latin typeface="Arial" panose="020B0604020202020204" pitchFamily="34" charset="0"/>
              <a:cs typeface="Arial" panose="020B0604020202020204" pitchFamily="34" charset="0"/>
            </a:endParaRPr>
          </a:p>
        </p:txBody>
      </p:sp>
      <p:sp>
        <p:nvSpPr>
          <p:cNvPr id="7" name="Text 4"/>
          <p:cNvSpPr/>
          <p:nvPr/>
        </p:nvSpPr>
        <p:spPr>
          <a:xfrm>
            <a:off x="8214718" y="3051869"/>
            <a:ext cx="3083520" cy="805458"/>
          </a:xfrm>
          <a:prstGeom prst="rect">
            <a:avLst/>
          </a:prstGeom>
          <a:noFill/>
          <a:ln/>
        </p:spPr>
        <p:txBody>
          <a:bodyPr wrap="square" lIns="0" tIns="0" rIns="0" bIns="0" rtlCol="0" anchor="t"/>
          <a:lstStyle/>
          <a:p>
            <a:pPr algn="r" rtl="1">
              <a:lnSpc>
                <a:spcPts val="2083"/>
              </a:lnSpc>
            </a:pPr>
            <a:r>
              <a:rPr lang="en-US" sz="1200" dirty="0">
                <a:solidFill>
                  <a:srgbClr val="272525"/>
                </a:solidFill>
                <a:latin typeface="Arial" panose="020B0604020202020204" pitchFamily="34" charset="0"/>
                <a:ea typeface="Inter" pitchFamily="34" charset="-122"/>
                <a:cs typeface="Arial" panose="020B0604020202020204" pitchFamily="34" charset="0"/>
              </a:rPr>
              <a:t>ج/ يتم التوضيح أنه يجب تصفير العداد </a:t>
            </a:r>
            <a:r>
              <a:rPr lang="en-US" sz="1200" dirty="0" err="1">
                <a:solidFill>
                  <a:srgbClr val="272525"/>
                </a:solidFill>
                <a:latin typeface="Arial" panose="020B0604020202020204" pitchFamily="34" charset="0"/>
                <a:ea typeface="Inter" pitchFamily="34" charset="-122"/>
                <a:cs typeface="Arial" panose="020B0604020202020204" pitchFamily="34" charset="0"/>
              </a:rPr>
              <a:t>أولاً</a:t>
            </a:r>
            <a:r>
              <a:rPr lang="en-US" sz="1200" dirty="0">
                <a:solidFill>
                  <a:srgbClr val="272525"/>
                </a:solidFill>
                <a:latin typeface="Arial" panose="020B0604020202020204" pitchFamily="34" charset="0"/>
                <a:ea typeface="Inter" pitchFamily="34" charset="-122"/>
                <a:cs typeface="Arial" panose="020B0604020202020204" pitchFamily="34" charset="0"/>
              </a:rPr>
              <a:t> </a:t>
            </a:r>
            <a:r>
              <a:rPr lang="en-US" sz="1200" dirty="0" err="1">
                <a:solidFill>
                  <a:srgbClr val="272525"/>
                </a:solidFill>
                <a:latin typeface="Arial" panose="020B0604020202020204" pitchFamily="34" charset="0"/>
                <a:ea typeface="Inter" pitchFamily="34" charset="-122"/>
                <a:cs typeface="Arial" panose="020B0604020202020204" pitchFamily="34" charset="0"/>
              </a:rPr>
              <a:t>السداد</a:t>
            </a:r>
            <a:r>
              <a:rPr lang="en-US" sz="1200" dirty="0">
                <a:solidFill>
                  <a:srgbClr val="272525"/>
                </a:solidFill>
                <a:latin typeface="Arial" panose="020B0604020202020204" pitchFamily="34" charset="0"/>
                <a:ea typeface="Inter" pitchFamily="34" charset="-122"/>
                <a:cs typeface="Arial" panose="020B0604020202020204" pitchFamily="34" charset="0"/>
              </a:rPr>
              <a:t> </a:t>
            </a:r>
            <a:r>
              <a:rPr lang="en-US" sz="1200" dirty="0" err="1">
                <a:solidFill>
                  <a:srgbClr val="272525"/>
                </a:solidFill>
                <a:latin typeface="Arial" panose="020B0604020202020204" pitchFamily="34" charset="0"/>
                <a:ea typeface="Inter" pitchFamily="34" charset="-122"/>
                <a:cs typeface="Arial" panose="020B0604020202020204" pitchFamily="34" charset="0"/>
              </a:rPr>
              <a:t>بشكل</a:t>
            </a:r>
            <a:r>
              <a:rPr lang="en-US" sz="1200" dirty="0">
                <a:solidFill>
                  <a:srgbClr val="272525"/>
                </a:solidFill>
                <a:latin typeface="Arial" panose="020B0604020202020204" pitchFamily="34" charset="0"/>
                <a:ea typeface="Inter" pitchFamily="34" charset="-122"/>
                <a:cs typeface="Arial" panose="020B0604020202020204" pitchFamily="34" charset="0"/>
              </a:rPr>
              <a:t> </a:t>
            </a:r>
            <a:r>
              <a:rPr lang="en-US" sz="1200" dirty="0" err="1">
                <a:solidFill>
                  <a:srgbClr val="272525"/>
                </a:solidFill>
                <a:latin typeface="Arial" panose="020B0604020202020204" pitchFamily="34" charset="0"/>
                <a:ea typeface="Inter" pitchFamily="34" charset="-122"/>
                <a:cs typeface="Arial" panose="020B0604020202020204" pitchFamily="34" charset="0"/>
              </a:rPr>
              <a:t>كامل</a:t>
            </a:r>
            <a:r>
              <a:rPr lang="en-US" sz="1200" dirty="0">
                <a:solidFill>
                  <a:srgbClr val="272525"/>
                </a:solidFill>
                <a:latin typeface="Arial" panose="020B0604020202020204" pitchFamily="34" charset="0"/>
                <a:ea typeface="Inter" pitchFamily="34" charset="-122"/>
                <a:cs typeface="Arial" panose="020B0604020202020204" pitchFamily="34" charset="0"/>
              </a:rPr>
              <a:t> ثم بعد ذلك يتواصل مع الرقم الموحد لإيقاف الخدمة.</a:t>
            </a:r>
            <a:endParaRPr lang="en-US" sz="1200" dirty="0">
              <a:latin typeface="Arial" panose="020B0604020202020204" pitchFamily="34" charset="0"/>
              <a:cs typeface="Arial" panose="020B0604020202020204" pitchFamily="34" charset="0"/>
            </a:endParaRPr>
          </a:p>
        </p:txBody>
      </p:sp>
      <p:sp>
        <p:nvSpPr>
          <p:cNvPr id="8" name="Shape 5"/>
          <p:cNvSpPr/>
          <p:nvPr/>
        </p:nvSpPr>
        <p:spPr>
          <a:xfrm>
            <a:off x="4332090" y="2216349"/>
            <a:ext cx="3527921" cy="2375694"/>
          </a:xfrm>
          <a:prstGeom prst="roundRect">
            <a:avLst>
              <a:gd name="adj" fmla="val 3849"/>
            </a:avLst>
          </a:prstGeom>
          <a:solidFill>
            <a:srgbClr val="FFFFFF"/>
          </a:solidFill>
          <a:ln w="22860">
            <a:solidFill>
              <a:srgbClr val="C0C1D7"/>
            </a:solidFill>
            <a:prstDash val="solid"/>
          </a:ln>
        </p:spPr>
      </p:sp>
      <p:sp>
        <p:nvSpPr>
          <p:cNvPr id="9" name="Shape 6"/>
          <p:cNvSpPr/>
          <p:nvPr/>
        </p:nvSpPr>
        <p:spPr>
          <a:xfrm>
            <a:off x="7802860" y="2216349"/>
            <a:ext cx="76200" cy="2375694"/>
          </a:xfrm>
          <a:prstGeom prst="roundRect">
            <a:avLst>
              <a:gd name="adj" fmla="val 96215"/>
            </a:avLst>
          </a:prstGeom>
          <a:solidFill>
            <a:srgbClr val="4950BC"/>
          </a:solidFill>
          <a:ln/>
        </p:spPr>
      </p:sp>
      <p:sp>
        <p:nvSpPr>
          <p:cNvPr id="10" name="Text 7"/>
          <p:cNvSpPr/>
          <p:nvPr/>
        </p:nvSpPr>
        <p:spPr>
          <a:xfrm>
            <a:off x="4525666" y="2409925"/>
            <a:ext cx="3083619" cy="817959"/>
          </a:xfrm>
          <a:prstGeom prst="rect">
            <a:avLst/>
          </a:prstGeom>
          <a:noFill/>
          <a:ln/>
        </p:spPr>
        <p:txBody>
          <a:bodyPr wrap="square" lIns="0" tIns="0" rIns="0" bIns="0" rtlCol="0" anchor="t"/>
          <a:lstStyle/>
          <a:p>
            <a:pPr algn="r" rtl="1">
              <a:lnSpc>
                <a:spcPts val="2125"/>
              </a:lnSpc>
            </a:pPr>
            <a:r>
              <a:rPr lang="en-US" sz="1708" b="1" dirty="0">
                <a:solidFill>
                  <a:srgbClr val="272525"/>
                </a:solidFill>
                <a:latin typeface="Arial" panose="020B0604020202020204" pitchFamily="34" charset="0"/>
                <a:ea typeface="Inter Bold" pitchFamily="34" charset="-122"/>
                <a:cs typeface="Arial" panose="020B0604020202020204" pitchFamily="34" charset="0"/>
              </a:rPr>
              <a:t>س/ في حالة </a:t>
            </a:r>
            <a:r>
              <a:rPr lang="en-US" sz="1708" b="1" dirty="0" err="1">
                <a:solidFill>
                  <a:srgbClr val="272525"/>
                </a:solidFill>
                <a:latin typeface="Arial" panose="020B0604020202020204" pitchFamily="34" charset="0"/>
                <a:ea typeface="Inter Bold" pitchFamily="34" charset="-122"/>
                <a:cs typeface="Arial" panose="020B0604020202020204" pitchFamily="34" charset="0"/>
              </a:rPr>
              <a:t>سؤال</a:t>
            </a:r>
            <a:r>
              <a:rPr lang="en-US" sz="1708" b="1" dirty="0">
                <a:solidFill>
                  <a:srgbClr val="272525"/>
                </a:solidFill>
                <a:latin typeface="Arial" panose="020B0604020202020204" pitchFamily="34" charset="0"/>
                <a:ea typeface="Inter Bold" pitchFamily="34" charset="-122"/>
                <a:cs typeface="Arial" panose="020B0604020202020204" pitchFamily="34" charset="0"/>
              </a:rPr>
              <a:t> العميل</a:t>
            </a:r>
            <a:r>
              <a:rPr lang="ar-EG" sz="1708" b="1" dirty="0">
                <a:solidFill>
                  <a:srgbClr val="272525"/>
                </a:solidFill>
                <a:latin typeface="Arial" panose="020B0604020202020204" pitchFamily="34" charset="0"/>
                <a:ea typeface="Inter Bold" pitchFamily="34" charset="-122"/>
                <a:cs typeface="Arial" panose="020B0604020202020204" pitchFamily="34" charset="0"/>
              </a:rPr>
              <a:t>؟</a:t>
            </a:r>
          </a:p>
          <a:p>
            <a:pPr algn="r" rtl="1">
              <a:lnSpc>
                <a:spcPts val="2125"/>
              </a:lnSpc>
            </a:pPr>
            <a:r>
              <a:rPr lang="en-US" sz="1708" b="1" dirty="0" err="1">
                <a:solidFill>
                  <a:srgbClr val="272525"/>
                </a:solidFill>
                <a:latin typeface="Arial" panose="020B0604020202020204" pitchFamily="34" charset="0"/>
                <a:ea typeface="Inter Bold" pitchFamily="34" charset="-122"/>
                <a:cs typeface="Arial" panose="020B0604020202020204" pitchFamily="34" charset="0"/>
              </a:rPr>
              <a:t>لماذا</a:t>
            </a:r>
            <a:r>
              <a:rPr lang="en-US" sz="1708" b="1" dirty="0">
                <a:solidFill>
                  <a:srgbClr val="272525"/>
                </a:solidFill>
                <a:latin typeface="Arial" panose="020B0604020202020204" pitchFamily="34" charset="0"/>
                <a:ea typeface="Inter Bold" pitchFamily="34" charset="-122"/>
                <a:cs typeface="Arial" panose="020B0604020202020204" pitchFamily="34" charset="0"/>
              </a:rPr>
              <a:t> لم يتم التواصل معي من </a:t>
            </a:r>
            <a:r>
              <a:rPr lang="en-US" sz="1708" b="1" dirty="0" err="1">
                <a:solidFill>
                  <a:srgbClr val="272525"/>
                </a:solidFill>
                <a:latin typeface="Arial" panose="020B0604020202020204" pitchFamily="34" charset="0"/>
                <a:ea typeface="Inter Bold" pitchFamily="34" charset="-122"/>
                <a:cs typeface="Arial" panose="020B0604020202020204" pitchFamily="34" charset="0"/>
              </a:rPr>
              <a:t>قبل</a:t>
            </a:r>
            <a:r>
              <a:rPr lang="en-US" sz="1708" b="1" dirty="0">
                <a:solidFill>
                  <a:srgbClr val="272525"/>
                </a:solidFill>
                <a:latin typeface="Arial" panose="020B0604020202020204" pitchFamily="34" charset="0"/>
                <a:ea typeface="Inter Bold" pitchFamily="34" charset="-122"/>
                <a:cs typeface="Arial" panose="020B0604020202020204" pitchFamily="34" charset="0"/>
              </a:rPr>
              <a:t> </a:t>
            </a:r>
            <a:r>
              <a:rPr lang="ar-EG" sz="1708" b="1" dirty="0">
                <a:solidFill>
                  <a:srgbClr val="272525"/>
                </a:solidFill>
                <a:latin typeface="Arial" panose="020B0604020202020204" pitchFamily="34" charset="0"/>
                <a:ea typeface="Inter Bold" pitchFamily="34" charset="-122"/>
                <a:cs typeface="Arial" panose="020B0604020202020204" pitchFamily="34" charset="0"/>
              </a:rPr>
              <a:t>       </a:t>
            </a:r>
            <a:r>
              <a:rPr lang="en-US" sz="1708" b="1" dirty="0" err="1">
                <a:solidFill>
                  <a:srgbClr val="272525"/>
                </a:solidFill>
                <a:latin typeface="Arial" panose="020B0604020202020204" pitchFamily="34" charset="0"/>
                <a:ea typeface="Inter Bold" pitchFamily="34" charset="-122"/>
                <a:cs typeface="Arial" panose="020B0604020202020204" pitchFamily="34" charset="0"/>
              </a:rPr>
              <a:t>بخصوص</a:t>
            </a:r>
            <a:r>
              <a:rPr lang="en-US" sz="1708" b="1" dirty="0">
                <a:solidFill>
                  <a:srgbClr val="272525"/>
                </a:solidFill>
                <a:latin typeface="Arial" panose="020B0604020202020204" pitchFamily="34" charset="0"/>
                <a:ea typeface="Inter Bold" pitchFamily="34" charset="-122"/>
                <a:cs typeface="Arial" panose="020B0604020202020204" pitchFamily="34" charset="0"/>
              </a:rPr>
              <a:t> </a:t>
            </a:r>
            <a:r>
              <a:rPr lang="en-US" sz="1708" b="1" dirty="0" err="1">
                <a:solidFill>
                  <a:srgbClr val="272525"/>
                </a:solidFill>
                <a:latin typeface="Arial" panose="020B0604020202020204" pitchFamily="34" charset="0"/>
                <a:ea typeface="Inter Bold" pitchFamily="34" charset="-122"/>
                <a:cs typeface="Arial" panose="020B0604020202020204" pitchFamily="34" charset="0"/>
              </a:rPr>
              <a:t>هذه</a:t>
            </a:r>
            <a:r>
              <a:rPr lang="en-US" sz="1708" b="1" dirty="0">
                <a:solidFill>
                  <a:srgbClr val="272525"/>
                </a:solidFill>
                <a:latin typeface="Arial" panose="020B0604020202020204" pitchFamily="34" charset="0"/>
                <a:ea typeface="Inter Bold" pitchFamily="34" charset="-122"/>
                <a:cs typeface="Arial" panose="020B0604020202020204" pitchFamily="34" charset="0"/>
              </a:rPr>
              <a:t> </a:t>
            </a:r>
            <a:r>
              <a:rPr lang="en-US" sz="1708" b="1" dirty="0" err="1">
                <a:solidFill>
                  <a:srgbClr val="272525"/>
                </a:solidFill>
                <a:latin typeface="Arial" panose="020B0604020202020204" pitchFamily="34" charset="0"/>
                <a:ea typeface="Inter Bold" pitchFamily="34" charset="-122"/>
                <a:cs typeface="Arial" panose="020B0604020202020204" pitchFamily="34" charset="0"/>
              </a:rPr>
              <a:t>الفاتورة</a:t>
            </a:r>
            <a:r>
              <a:rPr lang="ar-EG" sz="1708" b="1" dirty="0">
                <a:solidFill>
                  <a:srgbClr val="272525"/>
                </a:solidFill>
                <a:latin typeface="Arial" panose="020B0604020202020204" pitchFamily="34" charset="0"/>
                <a:ea typeface="Inter Bold" pitchFamily="34" charset="-122"/>
                <a:cs typeface="Arial" panose="020B0604020202020204" pitchFamily="34" charset="0"/>
              </a:rPr>
              <a:t>)</a:t>
            </a:r>
            <a:endParaRPr lang="en-US" sz="1708" dirty="0">
              <a:latin typeface="Arial" panose="020B0604020202020204" pitchFamily="34" charset="0"/>
              <a:cs typeface="Arial" panose="020B0604020202020204" pitchFamily="34" charset="0"/>
            </a:endParaRPr>
          </a:p>
        </p:txBody>
      </p:sp>
      <p:sp>
        <p:nvSpPr>
          <p:cNvPr id="11" name="Text 8"/>
          <p:cNvSpPr/>
          <p:nvPr/>
        </p:nvSpPr>
        <p:spPr>
          <a:xfrm>
            <a:off x="4525666" y="3324523"/>
            <a:ext cx="3083619" cy="1073944"/>
          </a:xfrm>
          <a:prstGeom prst="rect">
            <a:avLst/>
          </a:prstGeom>
          <a:noFill/>
          <a:ln/>
        </p:spPr>
        <p:txBody>
          <a:bodyPr wrap="square" lIns="0" tIns="0" rIns="0" bIns="0" rtlCol="0" anchor="t"/>
          <a:lstStyle/>
          <a:p>
            <a:pPr algn="r" rtl="1">
              <a:lnSpc>
                <a:spcPts val="2083"/>
              </a:lnSpc>
            </a:pPr>
            <a:r>
              <a:rPr lang="en-US" sz="1200" dirty="0">
                <a:solidFill>
                  <a:srgbClr val="272525"/>
                </a:solidFill>
                <a:latin typeface="Arial" panose="020B0604020202020204" pitchFamily="34" charset="0"/>
                <a:ea typeface="Inter" pitchFamily="34" charset="-122"/>
                <a:cs typeface="Arial" panose="020B0604020202020204" pitchFamily="34" charset="0"/>
              </a:rPr>
              <a:t>ج/ يتم التوضيح من جانب الموظف أن شركة الطاقة أرسلت رسائل نصية للعميل على الجوال ولم يتم السداد ولذلك تحولت الفاتورة لقسم التحصيل.</a:t>
            </a:r>
            <a:endParaRPr lang="en-US" sz="1200" dirty="0">
              <a:latin typeface="Arial" panose="020B0604020202020204" pitchFamily="34" charset="0"/>
              <a:cs typeface="Arial" panose="020B0604020202020204" pitchFamily="34" charset="0"/>
            </a:endParaRPr>
          </a:p>
        </p:txBody>
      </p:sp>
      <p:sp>
        <p:nvSpPr>
          <p:cNvPr id="12" name="Shape 9"/>
          <p:cNvSpPr/>
          <p:nvPr/>
        </p:nvSpPr>
        <p:spPr>
          <a:xfrm>
            <a:off x="643037" y="2216349"/>
            <a:ext cx="3527921" cy="2375694"/>
          </a:xfrm>
          <a:prstGeom prst="roundRect">
            <a:avLst>
              <a:gd name="adj" fmla="val 3849"/>
            </a:avLst>
          </a:prstGeom>
          <a:solidFill>
            <a:srgbClr val="FFFFFF"/>
          </a:solidFill>
          <a:ln w="22860">
            <a:solidFill>
              <a:srgbClr val="C0C1D7"/>
            </a:solidFill>
            <a:prstDash val="solid"/>
          </a:ln>
        </p:spPr>
      </p:sp>
      <p:sp>
        <p:nvSpPr>
          <p:cNvPr id="13" name="Shape 10"/>
          <p:cNvSpPr/>
          <p:nvPr/>
        </p:nvSpPr>
        <p:spPr>
          <a:xfrm>
            <a:off x="4113808" y="2216349"/>
            <a:ext cx="76200" cy="2375694"/>
          </a:xfrm>
          <a:prstGeom prst="roundRect">
            <a:avLst>
              <a:gd name="adj" fmla="val 96215"/>
            </a:avLst>
          </a:prstGeom>
          <a:solidFill>
            <a:srgbClr val="4950BC"/>
          </a:solidFill>
          <a:ln/>
        </p:spPr>
      </p:sp>
      <p:sp>
        <p:nvSpPr>
          <p:cNvPr id="14" name="Text 11"/>
          <p:cNvSpPr/>
          <p:nvPr/>
        </p:nvSpPr>
        <p:spPr>
          <a:xfrm>
            <a:off x="836613" y="2409924"/>
            <a:ext cx="3083619" cy="545307"/>
          </a:xfrm>
          <a:prstGeom prst="rect">
            <a:avLst/>
          </a:prstGeom>
          <a:noFill/>
          <a:ln/>
        </p:spPr>
        <p:txBody>
          <a:bodyPr wrap="square" lIns="0" tIns="0" rIns="0" bIns="0" rtlCol="0" anchor="t"/>
          <a:lstStyle/>
          <a:p>
            <a:pPr algn="r" rtl="1">
              <a:lnSpc>
                <a:spcPts val="2125"/>
              </a:lnSpc>
            </a:pPr>
            <a:r>
              <a:rPr lang="en-US" sz="1708" b="1" dirty="0">
                <a:solidFill>
                  <a:srgbClr val="272525"/>
                </a:solidFill>
                <a:latin typeface="Arial" panose="020B0604020202020204" pitchFamily="34" charset="0"/>
                <a:ea typeface="Inter Bold" pitchFamily="34" charset="-122"/>
                <a:cs typeface="Arial" panose="020B0604020202020204" pitchFamily="34" charset="0"/>
              </a:rPr>
              <a:t>س/ في حالة توضيح العميل أنه لم يتلقَّ رسائل</a:t>
            </a:r>
            <a:endParaRPr lang="en-US" sz="1708" dirty="0">
              <a:latin typeface="Arial" panose="020B0604020202020204" pitchFamily="34" charset="0"/>
              <a:cs typeface="Arial" panose="020B0604020202020204" pitchFamily="34" charset="0"/>
            </a:endParaRPr>
          </a:p>
        </p:txBody>
      </p:sp>
      <p:sp>
        <p:nvSpPr>
          <p:cNvPr id="15" name="Text 12"/>
          <p:cNvSpPr/>
          <p:nvPr/>
        </p:nvSpPr>
        <p:spPr>
          <a:xfrm>
            <a:off x="836613" y="3051870"/>
            <a:ext cx="3083619" cy="1073944"/>
          </a:xfrm>
          <a:prstGeom prst="rect">
            <a:avLst/>
          </a:prstGeom>
          <a:noFill/>
          <a:ln/>
        </p:spPr>
        <p:txBody>
          <a:bodyPr wrap="square" lIns="0" tIns="0" rIns="0" bIns="0" rtlCol="0" anchor="t"/>
          <a:lstStyle/>
          <a:p>
            <a:pPr algn="r" rtl="1">
              <a:lnSpc>
                <a:spcPts val="2083"/>
              </a:lnSpc>
            </a:pPr>
            <a:r>
              <a:rPr lang="en-US" sz="1200" dirty="0">
                <a:solidFill>
                  <a:srgbClr val="272525"/>
                </a:solidFill>
                <a:latin typeface="Arial" panose="020B0604020202020204" pitchFamily="34" charset="0"/>
                <a:ea typeface="Inter" pitchFamily="34" charset="-122"/>
                <a:cs typeface="Arial" panose="020B0604020202020204" pitchFamily="34" charset="0"/>
              </a:rPr>
              <a:t>ج/ يتم التوضيح أن الفاتورة أصبحت واجبة السداد حالياً وتحولت لقسم التحصيل، وإذا أوضح أنه يرغب في استلام رسائل يتم توجيهه للدعم.</a:t>
            </a:r>
            <a:endParaRPr lang="en-US" sz="1200" dirty="0">
              <a:latin typeface="Arial" panose="020B0604020202020204" pitchFamily="34" charset="0"/>
              <a:cs typeface="Arial" panose="020B0604020202020204" pitchFamily="34" charset="0"/>
            </a:endParaRPr>
          </a:p>
        </p:txBody>
      </p:sp>
      <p:sp>
        <p:nvSpPr>
          <p:cNvPr id="16" name="Shape 13"/>
          <p:cNvSpPr/>
          <p:nvPr/>
        </p:nvSpPr>
        <p:spPr>
          <a:xfrm>
            <a:off x="8021142" y="4753174"/>
            <a:ext cx="3527822" cy="1566069"/>
          </a:xfrm>
          <a:prstGeom prst="roundRect">
            <a:avLst>
              <a:gd name="adj" fmla="val 5839"/>
            </a:avLst>
          </a:prstGeom>
          <a:solidFill>
            <a:srgbClr val="FFFFFF"/>
          </a:solidFill>
          <a:ln w="22860">
            <a:solidFill>
              <a:srgbClr val="C0C1D7"/>
            </a:solidFill>
            <a:prstDash val="solid"/>
          </a:ln>
        </p:spPr>
      </p:sp>
      <p:sp>
        <p:nvSpPr>
          <p:cNvPr id="17" name="Shape 14"/>
          <p:cNvSpPr/>
          <p:nvPr/>
        </p:nvSpPr>
        <p:spPr>
          <a:xfrm>
            <a:off x="11491813" y="4753174"/>
            <a:ext cx="76200" cy="1566069"/>
          </a:xfrm>
          <a:prstGeom prst="roundRect">
            <a:avLst>
              <a:gd name="adj" fmla="val 96215"/>
            </a:avLst>
          </a:prstGeom>
          <a:solidFill>
            <a:srgbClr val="4950BC"/>
          </a:solidFill>
          <a:ln/>
        </p:spPr>
      </p:sp>
      <p:sp>
        <p:nvSpPr>
          <p:cNvPr id="18" name="Text 15"/>
          <p:cNvSpPr/>
          <p:nvPr/>
        </p:nvSpPr>
        <p:spPr>
          <a:xfrm>
            <a:off x="8214718" y="4946749"/>
            <a:ext cx="3083520" cy="545307"/>
          </a:xfrm>
          <a:prstGeom prst="rect">
            <a:avLst/>
          </a:prstGeom>
          <a:noFill/>
          <a:ln/>
        </p:spPr>
        <p:txBody>
          <a:bodyPr wrap="square" lIns="0" tIns="0" rIns="0" bIns="0" rtlCol="0" anchor="t"/>
          <a:lstStyle/>
          <a:p>
            <a:pPr algn="r" rtl="1">
              <a:lnSpc>
                <a:spcPts val="2125"/>
              </a:lnSpc>
            </a:pPr>
            <a:r>
              <a:rPr lang="en-US" sz="1708" b="1" dirty="0">
                <a:solidFill>
                  <a:srgbClr val="272525"/>
                </a:solidFill>
                <a:latin typeface="Arial" panose="020B0604020202020204" pitchFamily="34" charset="0"/>
                <a:ea typeface="Inter Bold" pitchFamily="34" charset="-122"/>
                <a:cs typeface="Arial" panose="020B0604020202020204" pitchFamily="34" charset="0"/>
              </a:rPr>
              <a:t>س/ في حالة </a:t>
            </a:r>
            <a:r>
              <a:rPr lang="en-US" sz="1708" b="1" dirty="0" err="1">
                <a:solidFill>
                  <a:srgbClr val="272525"/>
                </a:solidFill>
                <a:latin typeface="Arial" panose="020B0604020202020204" pitchFamily="34" charset="0"/>
                <a:ea typeface="Inter Bold" pitchFamily="34" charset="-122"/>
                <a:cs typeface="Arial" panose="020B0604020202020204" pitchFamily="34" charset="0"/>
              </a:rPr>
              <a:t>سؤال</a:t>
            </a:r>
            <a:r>
              <a:rPr lang="en-US" sz="1708" b="1" dirty="0">
                <a:solidFill>
                  <a:srgbClr val="272525"/>
                </a:solidFill>
                <a:latin typeface="Arial" panose="020B0604020202020204" pitchFamily="34" charset="0"/>
                <a:ea typeface="Inter Bold" pitchFamily="34" charset="-122"/>
                <a:cs typeface="Arial" panose="020B0604020202020204" pitchFamily="34" charset="0"/>
              </a:rPr>
              <a:t> العميل</a:t>
            </a:r>
            <a:endParaRPr lang="ar-EG" sz="1708" b="1" dirty="0">
              <a:solidFill>
                <a:srgbClr val="272525"/>
              </a:solidFill>
              <a:latin typeface="Arial" panose="020B0604020202020204" pitchFamily="34" charset="0"/>
              <a:ea typeface="Inter Bold" pitchFamily="34" charset="-122"/>
              <a:cs typeface="Arial" panose="020B0604020202020204" pitchFamily="34" charset="0"/>
            </a:endParaRPr>
          </a:p>
          <a:p>
            <a:pPr algn="r" rtl="1">
              <a:lnSpc>
                <a:spcPts val="2125"/>
              </a:lnSpc>
            </a:pPr>
            <a:r>
              <a:rPr lang="ar-EG" sz="1708" b="1" dirty="0">
                <a:solidFill>
                  <a:srgbClr val="272525"/>
                </a:solidFill>
                <a:latin typeface="Arial" panose="020B0604020202020204" pitchFamily="34" charset="0"/>
                <a:ea typeface="Inter Bold" pitchFamily="34" charset="-122"/>
                <a:cs typeface="Arial" panose="020B0604020202020204" pitchFamily="34" charset="0"/>
              </a:rPr>
              <a:t>     </a:t>
            </a:r>
            <a:r>
              <a:rPr lang="en-US" sz="1708" b="1" dirty="0" err="1">
                <a:solidFill>
                  <a:srgbClr val="272525"/>
                </a:solidFill>
                <a:latin typeface="Arial" panose="020B0604020202020204" pitchFamily="34" charset="0"/>
                <a:ea typeface="Inter Bold" pitchFamily="34" charset="-122"/>
                <a:cs typeface="Arial" panose="020B0604020202020204" pitchFamily="34" charset="0"/>
              </a:rPr>
              <a:t>كم</a:t>
            </a:r>
            <a:r>
              <a:rPr lang="en-US" sz="1708" b="1" dirty="0">
                <a:solidFill>
                  <a:srgbClr val="272525"/>
                </a:solidFill>
                <a:latin typeface="Arial" panose="020B0604020202020204" pitchFamily="34" charset="0"/>
                <a:ea typeface="Inter Bold" pitchFamily="34" charset="-122"/>
                <a:cs typeface="Arial" panose="020B0604020202020204" pitchFamily="34" charset="0"/>
              </a:rPr>
              <a:t> رسوم </a:t>
            </a:r>
            <a:r>
              <a:rPr lang="en-US" sz="1708" b="1" dirty="0" err="1">
                <a:solidFill>
                  <a:srgbClr val="272525"/>
                </a:solidFill>
                <a:latin typeface="Arial" panose="020B0604020202020204" pitchFamily="34" charset="0"/>
                <a:ea typeface="Inter Bold" pitchFamily="34" charset="-122"/>
                <a:cs typeface="Arial" panose="020B0604020202020204" pitchFamily="34" charset="0"/>
              </a:rPr>
              <a:t>خدمة</a:t>
            </a:r>
            <a:r>
              <a:rPr lang="en-US" sz="1708" b="1" dirty="0">
                <a:solidFill>
                  <a:srgbClr val="272525"/>
                </a:solidFill>
                <a:latin typeface="Arial" panose="020B0604020202020204" pitchFamily="34" charset="0"/>
                <a:ea typeface="Inter Bold" pitchFamily="34" charset="-122"/>
                <a:cs typeface="Arial" panose="020B0604020202020204" pitchFamily="34" charset="0"/>
              </a:rPr>
              <a:t> </a:t>
            </a:r>
            <a:r>
              <a:rPr lang="en-US" sz="1708" b="1" dirty="0" err="1">
                <a:solidFill>
                  <a:srgbClr val="272525"/>
                </a:solidFill>
                <a:latin typeface="Arial" panose="020B0604020202020204" pitchFamily="34" charset="0"/>
                <a:ea typeface="Inter Bold" pitchFamily="34" charset="-122"/>
                <a:cs typeface="Arial" panose="020B0604020202020204" pitchFamily="34" charset="0"/>
              </a:rPr>
              <a:t>العداد</a:t>
            </a:r>
            <a:endParaRPr lang="en-US" sz="1708" dirty="0">
              <a:latin typeface="Arial" panose="020B0604020202020204" pitchFamily="34" charset="0"/>
              <a:cs typeface="Arial" panose="020B0604020202020204" pitchFamily="34" charset="0"/>
            </a:endParaRPr>
          </a:p>
        </p:txBody>
      </p:sp>
      <p:sp>
        <p:nvSpPr>
          <p:cNvPr id="19" name="Text 16"/>
          <p:cNvSpPr/>
          <p:nvPr/>
        </p:nvSpPr>
        <p:spPr>
          <a:xfrm>
            <a:off x="8214718" y="5588694"/>
            <a:ext cx="3083520" cy="536972"/>
          </a:xfrm>
          <a:prstGeom prst="rect">
            <a:avLst/>
          </a:prstGeom>
          <a:noFill/>
          <a:ln/>
        </p:spPr>
        <p:txBody>
          <a:bodyPr wrap="square" lIns="0" tIns="0" rIns="0" bIns="0" rtlCol="0" anchor="t"/>
          <a:lstStyle/>
          <a:p>
            <a:pPr algn="r" rtl="1">
              <a:lnSpc>
                <a:spcPts val="2083"/>
              </a:lnSpc>
            </a:pPr>
            <a:r>
              <a:rPr lang="en-US" sz="1200" dirty="0">
                <a:solidFill>
                  <a:srgbClr val="272525"/>
                </a:solidFill>
                <a:latin typeface="Arial" panose="020B0604020202020204" pitchFamily="34" charset="0"/>
                <a:ea typeface="Inter" pitchFamily="34" charset="-122"/>
                <a:cs typeface="Arial" panose="020B0604020202020204" pitchFamily="34" charset="0"/>
              </a:rPr>
              <a:t>ج/ يتم التوضيح أنها غير ثابتة وتختلف من عداد لآخر.</a:t>
            </a:r>
            <a:endParaRPr lang="en-US" sz="1200" dirty="0">
              <a:latin typeface="Arial" panose="020B0604020202020204" pitchFamily="34" charset="0"/>
              <a:cs typeface="Arial" panose="020B0604020202020204" pitchFamily="34" charset="0"/>
            </a:endParaRPr>
          </a:p>
        </p:txBody>
      </p:sp>
      <p:sp>
        <p:nvSpPr>
          <p:cNvPr id="20" name="Shape 17"/>
          <p:cNvSpPr/>
          <p:nvPr/>
        </p:nvSpPr>
        <p:spPr>
          <a:xfrm>
            <a:off x="4332090" y="4753174"/>
            <a:ext cx="3527921" cy="1566069"/>
          </a:xfrm>
          <a:prstGeom prst="roundRect">
            <a:avLst>
              <a:gd name="adj" fmla="val 5839"/>
            </a:avLst>
          </a:prstGeom>
          <a:solidFill>
            <a:srgbClr val="FFFFFF"/>
          </a:solidFill>
          <a:ln w="22860">
            <a:solidFill>
              <a:srgbClr val="C0C1D7"/>
            </a:solidFill>
            <a:prstDash val="solid"/>
          </a:ln>
        </p:spPr>
      </p:sp>
      <p:sp>
        <p:nvSpPr>
          <p:cNvPr id="21" name="Shape 18"/>
          <p:cNvSpPr/>
          <p:nvPr/>
        </p:nvSpPr>
        <p:spPr>
          <a:xfrm>
            <a:off x="7802860" y="4753174"/>
            <a:ext cx="76200" cy="1566069"/>
          </a:xfrm>
          <a:prstGeom prst="roundRect">
            <a:avLst>
              <a:gd name="adj" fmla="val 96215"/>
            </a:avLst>
          </a:prstGeom>
          <a:solidFill>
            <a:srgbClr val="4950BC"/>
          </a:solidFill>
          <a:ln/>
        </p:spPr>
      </p:sp>
      <p:sp>
        <p:nvSpPr>
          <p:cNvPr id="22" name="Text 19"/>
          <p:cNvSpPr/>
          <p:nvPr/>
        </p:nvSpPr>
        <p:spPr>
          <a:xfrm>
            <a:off x="4540746" y="4946749"/>
            <a:ext cx="3068538" cy="272653"/>
          </a:xfrm>
          <a:prstGeom prst="rect">
            <a:avLst/>
          </a:prstGeom>
          <a:noFill/>
          <a:ln/>
        </p:spPr>
        <p:txBody>
          <a:bodyPr wrap="none" lIns="0" tIns="0" rIns="0" bIns="0" rtlCol="0" anchor="t"/>
          <a:lstStyle/>
          <a:p>
            <a:pPr algn="r" rtl="1">
              <a:lnSpc>
                <a:spcPts val="2125"/>
              </a:lnSpc>
            </a:pPr>
            <a:r>
              <a:rPr lang="en-US" sz="1708" b="1" dirty="0">
                <a:solidFill>
                  <a:srgbClr val="272525"/>
                </a:solidFill>
                <a:latin typeface="Arial" panose="020B0604020202020204" pitchFamily="34" charset="0"/>
                <a:ea typeface="Inter Bold" pitchFamily="34" charset="-122"/>
                <a:cs typeface="Arial" panose="020B0604020202020204" pitchFamily="34" charset="0"/>
              </a:rPr>
              <a:t>س/ فئة خدمة العداد إذا كانت تجاري</a:t>
            </a:r>
            <a:endParaRPr lang="en-US" sz="1708" dirty="0">
              <a:latin typeface="Arial" panose="020B0604020202020204" pitchFamily="34" charset="0"/>
              <a:cs typeface="Arial" panose="020B0604020202020204" pitchFamily="34" charset="0"/>
            </a:endParaRPr>
          </a:p>
        </p:txBody>
      </p:sp>
      <p:sp>
        <p:nvSpPr>
          <p:cNvPr id="23" name="Text 20"/>
          <p:cNvSpPr/>
          <p:nvPr/>
        </p:nvSpPr>
        <p:spPr>
          <a:xfrm>
            <a:off x="4525666" y="5316042"/>
            <a:ext cx="3083619" cy="268486"/>
          </a:xfrm>
          <a:prstGeom prst="rect">
            <a:avLst/>
          </a:prstGeom>
          <a:noFill/>
          <a:ln/>
        </p:spPr>
        <p:txBody>
          <a:bodyPr wrap="none" lIns="0" tIns="0" rIns="0" bIns="0" rtlCol="0" anchor="t"/>
          <a:lstStyle/>
          <a:p>
            <a:pPr algn="r" rtl="1">
              <a:lnSpc>
                <a:spcPts val="2083"/>
              </a:lnSpc>
            </a:pPr>
            <a:r>
              <a:rPr lang="en-US" sz="1200" dirty="0">
                <a:solidFill>
                  <a:srgbClr val="272525"/>
                </a:solidFill>
                <a:latin typeface="Arial" panose="020B0604020202020204" pitchFamily="34" charset="0"/>
                <a:ea typeface="Inter" pitchFamily="34" charset="-122"/>
                <a:cs typeface="Arial" panose="020B0604020202020204" pitchFamily="34" charset="0"/>
              </a:rPr>
              <a:t>ج/ يتم دفع المبلغ كامل دون أي تجزئة.</a:t>
            </a:r>
            <a:endParaRPr lang="en-US" sz="1200" dirty="0">
              <a:latin typeface="Arial" panose="020B0604020202020204" pitchFamily="34" charset="0"/>
              <a:cs typeface="Arial" panose="020B0604020202020204" pitchFamily="34" charset="0"/>
            </a:endParaRPr>
          </a:p>
        </p:txBody>
      </p:sp>
      <p:pic>
        <p:nvPicPr>
          <p:cNvPr id="24" name="Picture 23">
            <a:extLst>
              <a:ext uri="{FF2B5EF4-FFF2-40B4-BE49-F238E27FC236}">
                <a16:creationId xmlns:a16="http://schemas.microsoft.com/office/drawing/2014/main" id="{9DA6CBC7-58F8-43CF-8CAB-83E38BD82C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850" y="263708"/>
            <a:ext cx="1541483" cy="494509"/>
          </a:xfrm>
          <a:prstGeom prst="rect">
            <a:avLst/>
          </a:prstGeom>
        </p:spPr>
      </p:pic>
      <p:pic>
        <p:nvPicPr>
          <p:cNvPr id="25" name="Graphic 24">
            <a:extLst>
              <a:ext uri="{FF2B5EF4-FFF2-40B4-BE49-F238E27FC236}">
                <a16:creationId xmlns:a16="http://schemas.microsoft.com/office/drawing/2014/main" id="{B9EBA47A-DD8B-461E-87C1-3B531DA61B98}"/>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5552" y="75050"/>
            <a:ext cx="1023679" cy="884875"/>
          </a:xfrm>
          <a:prstGeom prst="rect">
            <a:avLst/>
          </a:prstGeom>
        </p:spPr>
      </p:pic>
      <p:sp>
        <p:nvSpPr>
          <p:cNvPr id="26" name="Rectangle 25">
            <a:extLst>
              <a:ext uri="{FF2B5EF4-FFF2-40B4-BE49-F238E27FC236}">
                <a16:creationId xmlns:a16="http://schemas.microsoft.com/office/drawing/2014/main" id="{DF50C8AC-8047-417F-9E2B-D3A895E536F2}"/>
              </a:ext>
            </a:extLst>
          </p:cNvPr>
          <p:cNvSpPr/>
          <p:nvPr/>
        </p:nvSpPr>
        <p:spPr>
          <a:xfrm>
            <a:off x="1929760" y="122007"/>
            <a:ext cx="45719" cy="777909"/>
          </a:xfrm>
          <a:prstGeom prst="rect">
            <a:avLst/>
          </a:prstGeom>
          <a:solidFill>
            <a:srgbClr val="008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567</TotalTime>
  <Words>1767</Words>
  <Application>Microsoft Office PowerPoint</Application>
  <PresentationFormat>Widescreen</PresentationFormat>
  <Paragraphs>199</Paragraphs>
  <Slides>12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(Body)</vt:lpstr>
      <vt:lpstr>Calibri</vt:lpstr>
      <vt:lpstr>Calibri Light</vt:lpstr>
      <vt:lpstr>Sakkal Majalla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MAGED_DESIGN</dc:creator>
  <cp:lastModifiedBy>Youssef Saleh</cp:lastModifiedBy>
  <cp:revision>96</cp:revision>
  <cp:lastPrinted>2023-03-19T10:36:02Z</cp:lastPrinted>
  <dcterms:created xsi:type="dcterms:W3CDTF">2023-02-27T09:33:02Z</dcterms:created>
  <dcterms:modified xsi:type="dcterms:W3CDTF">2026-03-11T21:32:17Z</dcterms:modified>
</cp:coreProperties>
</file>